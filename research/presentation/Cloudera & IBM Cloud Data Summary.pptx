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2"/>
    <p:sldMasterId id="2147483674" r:id="rId3"/>
    <p:sldMasterId id="2147483694" r:id="rId4"/>
  </p:sldMasterIdLst>
  <p:sldIdLst>
    <p:sldId id="268" r:id="rId5"/>
    <p:sldId id="256" r:id="rId6"/>
    <p:sldId id="258" r:id="rId7"/>
    <p:sldId id="259" r:id="rId8"/>
    <p:sldId id="257" r:id="rId9"/>
    <p:sldId id="261" r:id="rId10"/>
    <p:sldId id="262" r:id="rId11"/>
    <p:sldId id="267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463212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397480" y="1055160"/>
            <a:ext cx="3033000" cy="303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4807080" cy="200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654880" y="1312560"/>
            <a:ext cx="2851920" cy="2851920"/>
          </a:xfrm>
          <a:prstGeom prst="rect">
            <a:avLst/>
          </a:prstGeom>
          <a:noFill/>
          <a:ln w="76320">
            <a:solidFill>
              <a:schemeClr val="lt1"/>
            </a:solidFill>
            <a:round/>
          </a:ln>
        </p:spPr>
        <p:txBody>
          <a:bodyPr lIns="90000" tIns="45000" rIns="90000" bIns="45000" anchor="t">
            <a:normAutofit fontScale="31111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733680" y="1967760"/>
            <a:ext cx="4410720" cy="1366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1" name="PlaceHolder 2"/>
          <p:cNvSpPr>
            <a:spLocks noGrp="1"/>
          </p:cNvSpPr>
          <p:nvPr>
            <p:ph type="title"/>
          </p:nvPr>
        </p:nvSpPr>
        <p:spPr>
          <a:xfrm>
            <a:off x="789480" y="539640"/>
            <a:ext cx="1046520" cy="13348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0" strike="noStrike" spc="-1">
                <a:solidFill>
                  <a:schemeClr val="dk1"/>
                </a:solidFill>
                <a:latin typeface="Archivo Black"/>
                <a:ea typeface="Archivo Black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5397480" y="1055160"/>
            <a:ext cx="3033000" cy="3033000"/>
          </a:xfrm>
          <a:prstGeom prst="rect">
            <a:avLst/>
          </a:prstGeom>
          <a:noFill/>
          <a:ln w="38160">
            <a:solidFill>
              <a:schemeClr val="lt1"/>
            </a:solidFill>
            <a:round/>
          </a:ln>
        </p:spPr>
        <p:txBody>
          <a:bodyPr lIns="90000" tIns="45000" rIns="90000" bIns="45000" anchor="t">
            <a:normAutofit fontScale="500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grpSp>
        <p:nvGrpSpPr>
          <p:cNvPr id="153" name="Google Shape;17;p3"/>
          <p:cNvGrpSpPr/>
          <p:nvPr/>
        </p:nvGrpSpPr>
        <p:grpSpPr>
          <a:xfrm>
            <a:off x="3660480" y="399960"/>
            <a:ext cx="1309320" cy="257400"/>
            <a:chOff x="3660480" y="399960"/>
            <a:chExt cx="1309320" cy="257400"/>
          </a:xfrm>
        </p:grpSpPr>
        <p:sp>
          <p:nvSpPr>
            <p:cNvPr id="154" name="Google Shape;18;p3"/>
            <p:cNvSpPr/>
            <p:nvPr/>
          </p:nvSpPr>
          <p:spPr>
            <a:xfrm>
              <a:off x="407988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5" name="Google Shape;19;p3"/>
            <p:cNvSpPr/>
            <p:nvPr/>
          </p:nvSpPr>
          <p:spPr>
            <a:xfrm>
              <a:off x="428400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6" name="Google Shape;20;p3"/>
            <p:cNvSpPr/>
            <p:nvPr/>
          </p:nvSpPr>
          <p:spPr>
            <a:xfrm>
              <a:off x="448812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7" name="Google Shape;21;p3"/>
            <p:cNvSpPr/>
            <p:nvPr/>
          </p:nvSpPr>
          <p:spPr>
            <a:xfrm>
              <a:off x="469224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8" name="Google Shape;22;p3"/>
            <p:cNvSpPr/>
            <p:nvPr/>
          </p:nvSpPr>
          <p:spPr>
            <a:xfrm>
              <a:off x="489636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9" name="Google Shape;23;p3"/>
            <p:cNvSpPr/>
            <p:nvPr/>
          </p:nvSpPr>
          <p:spPr>
            <a:xfrm>
              <a:off x="366048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0" name="Google Shape;24;p3"/>
            <p:cNvSpPr/>
            <p:nvPr/>
          </p:nvSpPr>
          <p:spPr>
            <a:xfrm>
              <a:off x="386424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1" name="Google Shape;25;p3"/>
            <p:cNvSpPr/>
            <p:nvPr/>
          </p:nvSpPr>
          <p:spPr>
            <a:xfrm>
              <a:off x="406836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2" name="Google Shape;26;p3"/>
            <p:cNvSpPr/>
            <p:nvPr/>
          </p:nvSpPr>
          <p:spPr>
            <a:xfrm>
              <a:off x="427248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3" name="Google Shape;27;p3"/>
            <p:cNvSpPr/>
            <p:nvPr/>
          </p:nvSpPr>
          <p:spPr>
            <a:xfrm>
              <a:off x="447660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720000" y="1222920"/>
            <a:ext cx="4275720" cy="173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5397480" y="1055160"/>
            <a:ext cx="3033000" cy="3033000"/>
          </a:xfrm>
          <a:prstGeom prst="rect">
            <a:avLst/>
          </a:prstGeom>
          <a:noFill/>
          <a:ln w="38160">
            <a:solidFill>
              <a:schemeClr val="lt1"/>
            </a:solidFill>
            <a:round/>
          </a:ln>
        </p:spPr>
        <p:txBody>
          <a:bodyPr lIns="90000" tIns="45000" rIns="90000" bIns="45000" anchor="t">
            <a:normAutofit fontScale="500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grpSp>
        <p:nvGrpSpPr>
          <p:cNvPr id="184" name="Google Shape;367;p22"/>
          <p:cNvGrpSpPr/>
          <p:nvPr/>
        </p:nvGrpSpPr>
        <p:grpSpPr>
          <a:xfrm>
            <a:off x="5362560" y="4349160"/>
            <a:ext cx="1309320" cy="257400"/>
            <a:chOff x="5362560" y="4349160"/>
            <a:chExt cx="1309320" cy="257400"/>
          </a:xfrm>
        </p:grpSpPr>
        <p:sp>
          <p:nvSpPr>
            <p:cNvPr id="185" name="Google Shape;368;p22"/>
            <p:cNvSpPr/>
            <p:nvPr/>
          </p:nvSpPr>
          <p:spPr>
            <a:xfrm flipV="1">
              <a:off x="578196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6" name="Google Shape;369;p22"/>
            <p:cNvSpPr/>
            <p:nvPr/>
          </p:nvSpPr>
          <p:spPr>
            <a:xfrm flipV="1">
              <a:off x="598608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7" name="Google Shape;370;p22"/>
            <p:cNvSpPr/>
            <p:nvPr/>
          </p:nvSpPr>
          <p:spPr>
            <a:xfrm flipV="1">
              <a:off x="619020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8" name="Google Shape;371;p22"/>
            <p:cNvSpPr/>
            <p:nvPr/>
          </p:nvSpPr>
          <p:spPr>
            <a:xfrm flipV="1">
              <a:off x="639432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9" name="Google Shape;372;p22"/>
            <p:cNvSpPr/>
            <p:nvPr/>
          </p:nvSpPr>
          <p:spPr>
            <a:xfrm flipV="1">
              <a:off x="659844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0" name="Google Shape;373;p22"/>
            <p:cNvSpPr/>
            <p:nvPr/>
          </p:nvSpPr>
          <p:spPr>
            <a:xfrm flipV="1">
              <a:off x="536256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1" name="Google Shape;374;p22"/>
            <p:cNvSpPr/>
            <p:nvPr/>
          </p:nvSpPr>
          <p:spPr>
            <a:xfrm flipV="1">
              <a:off x="556668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2" name="Google Shape;375;p22"/>
            <p:cNvSpPr/>
            <p:nvPr/>
          </p:nvSpPr>
          <p:spPr>
            <a:xfrm flipV="1">
              <a:off x="577080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3" name="Google Shape;376;p22"/>
            <p:cNvSpPr/>
            <p:nvPr/>
          </p:nvSpPr>
          <p:spPr>
            <a:xfrm flipV="1">
              <a:off x="597492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4" name="Google Shape;377;p22"/>
            <p:cNvSpPr/>
            <p:nvPr/>
          </p:nvSpPr>
          <p:spPr>
            <a:xfrm flipV="1">
              <a:off x="617904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713160" y="1013400"/>
            <a:ext cx="6993720" cy="81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341" name="Google Shape;121;p9"/>
          <p:cNvGrpSpPr/>
          <p:nvPr/>
        </p:nvGrpSpPr>
        <p:grpSpPr>
          <a:xfrm>
            <a:off x="6687360" y="-258840"/>
            <a:ext cx="2947320" cy="5031720"/>
            <a:chOff x="6687360" y="-258840"/>
            <a:chExt cx="2947320" cy="5031720"/>
          </a:xfrm>
        </p:grpSpPr>
        <p:grpSp>
          <p:nvGrpSpPr>
            <p:cNvPr id="342" name="Google Shape;122;p9"/>
            <p:cNvGrpSpPr/>
            <p:nvPr/>
          </p:nvGrpSpPr>
          <p:grpSpPr>
            <a:xfrm>
              <a:off x="7260480" y="4515480"/>
              <a:ext cx="1309680" cy="257400"/>
              <a:chOff x="7260480" y="4515480"/>
              <a:chExt cx="1309680" cy="257400"/>
            </a:xfrm>
          </p:grpSpPr>
          <p:sp>
            <p:nvSpPr>
              <p:cNvPr id="343" name="Google Shape;123;p9"/>
              <p:cNvSpPr/>
              <p:nvPr/>
            </p:nvSpPr>
            <p:spPr>
              <a:xfrm flipV="1">
                <a:off x="7680240" y="469944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dirty="0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44" name="Google Shape;124;p9"/>
              <p:cNvSpPr/>
              <p:nvPr/>
            </p:nvSpPr>
            <p:spPr>
              <a:xfrm flipV="1">
                <a:off x="7884360" y="469944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dirty="0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45" name="Google Shape;125;p9"/>
              <p:cNvSpPr/>
              <p:nvPr/>
            </p:nvSpPr>
            <p:spPr>
              <a:xfrm flipV="1">
                <a:off x="8088480" y="469944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dirty="0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46" name="Google Shape;126;p9"/>
              <p:cNvSpPr/>
              <p:nvPr/>
            </p:nvSpPr>
            <p:spPr>
              <a:xfrm flipV="1">
                <a:off x="8292600" y="469944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dirty="0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47" name="Google Shape;127;p9"/>
              <p:cNvSpPr/>
              <p:nvPr/>
            </p:nvSpPr>
            <p:spPr>
              <a:xfrm flipV="1">
                <a:off x="8496720" y="469944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dirty="0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48" name="Google Shape;128;p9"/>
              <p:cNvSpPr/>
              <p:nvPr/>
            </p:nvSpPr>
            <p:spPr>
              <a:xfrm flipV="1">
                <a:off x="7260480" y="451548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dirty="0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49" name="Google Shape;129;p9"/>
              <p:cNvSpPr/>
              <p:nvPr/>
            </p:nvSpPr>
            <p:spPr>
              <a:xfrm flipV="1">
                <a:off x="7464600" y="451548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dirty="0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50" name="Google Shape;130;p9"/>
              <p:cNvSpPr/>
              <p:nvPr/>
            </p:nvSpPr>
            <p:spPr>
              <a:xfrm flipV="1">
                <a:off x="7668720" y="451548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dirty="0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51" name="Google Shape;131;p9"/>
              <p:cNvSpPr/>
              <p:nvPr/>
            </p:nvSpPr>
            <p:spPr>
              <a:xfrm flipV="1">
                <a:off x="7872840" y="451548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dirty="0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52" name="Google Shape;132;p9"/>
              <p:cNvSpPr/>
              <p:nvPr/>
            </p:nvSpPr>
            <p:spPr>
              <a:xfrm flipV="1">
                <a:off x="8076960" y="451548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dirty="0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353" name="Google Shape;133;p9"/>
            <p:cNvGrpSpPr/>
            <p:nvPr/>
          </p:nvGrpSpPr>
          <p:grpSpPr>
            <a:xfrm>
              <a:off x="6687360" y="-258840"/>
              <a:ext cx="2947320" cy="2776320"/>
              <a:chOff x="6687360" y="-258840"/>
              <a:chExt cx="2947320" cy="2776320"/>
            </a:xfrm>
          </p:grpSpPr>
          <p:sp>
            <p:nvSpPr>
              <p:cNvPr id="354" name="Google Shape;134;p9"/>
              <p:cNvSpPr/>
              <p:nvPr/>
            </p:nvSpPr>
            <p:spPr>
              <a:xfrm rot="10800000">
                <a:off x="6687360" y="-15120"/>
                <a:ext cx="2456640" cy="2446920"/>
              </a:xfrm>
              <a:prstGeom prst="rtTriangl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dirty="0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55" name="Google Shape;135;p9"/>
              <p:cNvSpPr/>
              <p:nvPr/>
            </p:nvSpPr>
            <p:spPr>
              <a:xfrm rot="13499400" flipH="1">
                <a:off x="7946280" y="807840"/>
                <a:ext cx="1779480" cy="47736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dirty="0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6" name="Google Shape;136;p9"/>
              <p:cNvSpPr/>
              <p:nvPr/>
            </p:nvSpPr>
            <p:spPr>
              <a:xfrm rot="13500000" flipH="1">
                <a:off x="6856920" y="76320"/>
                <a:ext cx="995760" cy="11448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0680" bIns="40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dirty="0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7" name="Google Shape;137;p9"/>
              <p:cNvSpPr/>
              <p:nvPr/>
            </p:nvSpPr>
            <p:spPr>
              <a:xfrm rot="10800000" flipH="1">
                <a:off x="6962400" y="272160"/>
                <a:ext cx="1309320" cy="1309320"/>
              </a:xfrm>
              <a:prstGeom prst="ellipse">
                <a:avLst/>
              </a:prstGeom>
              <a:noFill/>
              <a:ln w="9525">
                <a:solidFill>
                  <a:srgbClr val="F8F8F8"/>
                </a:solidFill>
                <a:prstDash val="lgDash"/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dirty="0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8" name="Google Shape;138;p9"/>
              <p:cNvSpPr/>
              <p:nvPr/>
            </p:nvSpPr>
            <p:spPr>
              <a:xfrm rot="13499400" flipH="1">
                <a:off x="7652160" y="1609560"/>
                <a:ext cx="1779480" cy="32616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dirty="0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cloudera.com/about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oudera.com/products/cloudera-data-platform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hyperlink" Target="https://www.cloudera.com/products/cloudera-data-platform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ibm.com/cloud/what-is-cloud-computing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products/cloud-pak-for-data" TargetMode="External"/><Relationship Id="rId3" Type="http://schemas.openxmlformats.org/officeDocument/2006/relationships/image" Target="../media/image15.png"/><Relationship Id="rId7" Type="http://schemas.openxmlformats.org/officeDocument/2006/relationships/hyperlink" Target="https://www.ibm.com/cloud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hyperlink" Target="https://www.ibm.com/products/cloud-pak-for-data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jpg"/><Relationship Id="rId5" Type="http://schemas.openxmlformats.org/officeDocument/2006/relationships/image" Target="../media/image22.jpeg"/><Relationship Id="rId4" Type="http://schemas.openxmlformats.org/officeDocument/2006/relationships/image" Target="../media/image21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5C94E-9984-879F-73F5-D48FD82F4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034"/>
            <a:ext cx="9144000" cy="708482"/>
          </a:xfrm>
        </p:spPr>
        <p:txBody>
          <a:bodyPr anchor="t"/>
          <a:lstStyle/>
          <a:p>
            <a:pPr algn="ctr"/>
            <a:r>
              <a:rPr lang="en-US" sz="2000" b="1" noProof="0" dirty="0"/>
              <a:t>South Westphalia University of Applied Sciences</a:t>
            </a:r>
            <a:br>
              <a:rPr lang="en-US" sz="2000" b="1" noProof="0" dirty="0"/>
            </a:br>
            <a:r>
              <a:rPr lang="en-US" sz="1600" b="1" noProof="0" dirty="0"/>
              <a:t>Data Science Project Seminar Driving Corporate Performance</a:t>
            </a:r>
            <a:br>
              <a:rPr lang="en-US" sz="1600" b="1" noProof="0" dirty="0"/>
            </a:br>
            <a:r>
              <a:rPr lang="en-US" sz="1600" b="1" noProof="0" dirty="0"/>
              <a:t>Summer Semester 2025</a:t>
            </a:r>
            <a:endParaRPr lang="en-US" sz="20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1CFFB5-6200-2D4E-26E5-25DBC8DDD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7516"/>
            <a:ext cx="9144000" cy="4024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311653-913B-8165-9F1C-73A74E57CA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4" y="4787085"/>
            <a:ext cx="1428334" cy="3135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69D314-557F-CA91-CB66-E9764DB3BE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919" y="4787085"/>
            <a:ext cx="1111122" cy="3423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99936A-E1B9-3F26-6E86-092742093242}"/>
              </a:ext>
            </a:extLst>
          </p:cNvPr>
          <p:cNvSpPr txBox="1"/>
          <p:nvPr/>
        </p:nvSpPr>
        <p:spPr>
          <a:xfrm>
            <a:off x="4525280" y="4140754"/>
            <a:ext cx="461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005EAD"/>
              </a:buClr>
              <a:buSzPts val="1350"/>
              <a:buFont typeface="Noto Sans Symbols"/>
              <a:buNone/>
            </a:pPr>
            <a:r>
              <a:rPr lang="en-US" sz="1800" b="1" noProof="0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 Abdullah Al Noman Mridha</a:t>
            </a:r>
            <a:r>
              <a:rPr lang="en-US" sz="1800" b="1" i="0" u="none" strike="noStrike" cap="none" noProof="0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noProof="0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0" u="none" strike="noStrike" cap="none" noProof="0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Matriculation number: 30494592)</a:t>
            </a:r>
            <a:endParaRPr lang="en-US" noProof="0" dirty="0"/>
          </a:p>
        </p:txBody>
      </p:sp>
      <p:sp>
        <p:nvSpPr>
          <p:cNvPr id="13" name="Google Shape;77;p15">
            <a:extLst>
              <a:ext uri="{FF2B5EF4-FFF2-40B4-BE49-F238E27FC236}">
                <a16:creationId xmlns:a16="http://schemas.microsoft.com/office/drawing/2014/main" id="{24C9DC82-21ED-C910-9E59-167E62170E65}"/>
              </a:ext>
            </a:extLst>
          </p:cNvPr>
          <p:cNvSpPr txBox="1">
            <a:spLocks/>
          </p:cNvSpPr>
          <p:nvPr/>
        </p:nvSpPr>
        <p:spPr>
          <a:xfrm>
            <a:off x="66744" y="762392"/>
            <a:ext cx="4098122" cy="977191"/>
          </a:xfrm>
          <a:prstGeom prst="rect">
            <a:avLst/>
          </a:prstGeom>
          <a:noFill/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noProof="0" dirty="0">
                <a:solidFill>
                  <a:schemeClr val="bg1"/>
                </a:solidFill>
              </a:rPr>
              <a:t>Management Data Summary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SzPts val="1800"/>
              <a:buFont typeface="Arial" panose="020B0604020202020204" pitchFamily="34" charset="0"/>
              <a:buNone/>
            </a:pPr>
            <a:endParaRPr lang="en-US" noProof="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397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2"/>
          <p:cNvSpPr>
            <a:spLocks noGrp="1"/>
          </p:cNvSpPr>
          <p:nvPr>
            <p:ph type="subTitle"/>
          </p:nvPr>
        </p:nvSpPr>
        <p:spPr>
          <a:xfrm>
            <a:off x="126111" y="1844564"/>
            <a:ext cx="4509642" cy="265944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4443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1" noProof="0" dirty="0"/>
              <a:t>Cloudera Overview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noProof="0" dirty="0"/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noProof="0" dirty="0"/>
              <a:t>Cloudera is a leading data company that provides a hybrid data platform designed for data engineering, data warehousing, machine learning, and analytics. Founded in 2008, Cloudera pioneered the development of open-source big data platforms based on Apache Hadoop</a:t>
            </a:r>
            <a:endParaRPr lang="en-US" sz="1800" b="0" strike="noStrike" spc="-1" noProof="0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365" name="Google Shape;456;p30"/>
          <p:cNvGrpSpPr/>
          <p:nvPr/>
        </p:nvGrpSpPr>
        <p:grpSpPr>
          <a:xfrm>
            <a:off x="4714560" y="677340"/>
            <a:ext cx="4429440" cy="4466160"/>
            <a:chOff x="4714200" y="684000"/>
            <a:chExt cx="4429440" cy="4466160"/>
          </a:xfrm>
        </p:grpSpPr>
        <p:sp>
          <p:nvSpPr>
            <p:cNvPr id="366" name="Google Shape;457;p30"/>
            <p:cNvSpPr/>
            <p:nvPr/>
          </p:nvSpPr>
          <p:spPr>
            <a:xfrm flipH="1">
              <a:off x="4714200" y="783360"/>
              <a:ext cx="4429440" cy="4366800"/>
            </a:xfrm>
            <a:prstGeom prst="rtTriangl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67" name="Google Shape;458;p30"/>
            <p:cNvSpPr/>
            <p:nvPr/>
          </p:nvSpPr>
          <p:spPr>
            <a:xfrm rot="18900000">
              <a:off x="7674840" y="130356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8" name="Google Shape;459;p30"/>
            <p:cNvSpPr/>
            <p:nvPr/>
          </p:nvSpPr>
          <p:spPr>
            <a:xfrm rot="18900600">
              <a:off x="4984200" y="327564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9" name="Google Shape;460;p30"/>
            <p:cNvSpPr/>
            <p:nvPr/>
          </p:nvSpPr>
          <p:spPr>
            <a:xfrm rot="18900600">
              <a:off x="7107840" y="209304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0" name="Google Shape;461;p30"/>
            <p:cNvSpPr/>
            <p:nvPr/>
          </p:nvSpPr>
          <p:spPr>
            <a:xfrm rot="18900600">
              <a:off x="6792480" y="124308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1" name="Google Shape;462;p30"/>
            <p:cNvSpPr/>
            <p:nvPr/>
          </p:nvSpPr>
          <p:spPr>
            <a:xfrm rot="18900600">
              <a:off x="5127480" y="384948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372" name="Google Shape;463;p30"/>
          <p:cNvGrpSpPr/>
          <p:nvPr/>
        </p:nvGrpSpPr>
        <p:grpSpPr>
          <a:xfrm>
            <a:off x="3530553" y="4614526"/>
            <a:ext cx="1309320" cy="257400"/>
            <a:chOff x="2669760" y="4362120"/>
            <a:chExt cx="1309320" cy="257400"/>
          </a:xfrm>
        </p:grpSpPr>
        <p:sp>
          <p:nvSpPr>
            <p:cNvPr id="373" name="Google Shape;464;p30"/>
            <p:cNvSpPr/>
            <p:nvPr/>
          </p:nvSpPr>
          <p:spPr>
            <a:xfrm>
              <a:off x="308916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74" name="Google Shape;465;p30"/>
            <p:cNvSpPr/>
            <p:nvPr/>
          </p:nvSpPr>
          <p:spPr>
            <a:xfrm>
              <a:off x="329328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75" name="Google Shape;466;p30"/>
            <p:cNvSpPr/>
            <p:nvPr/>
          </p:nvSpPr>
          <p:spPr>
            <a:xfrm>
              <a:off x="349740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76" name="Google Shape;467;p30"/>
            <p:cNvSpPr/>
            <p:nvPr/>
          </p:nvSpPr>
          <p:spPr>
            <a:xfrm>
              <a:off x="370152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77" name="Google Shape;468;p30"/>
            <p:cNvSpPr/>
            <p:nvPr/>
          </p:nvSpPr>
          <p:spPr>
            <a:xfrm>
              <a:off x="390564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78" name="Google Shape;469;p30"/>
            <p:cNvSpPr/>
            <p:nvPr/>
          </p:nvSpPr>
          <p:spPr>
            <a:xfrm>
              <a:off x="266976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79" name="Google Shape;470;p30"/>
            <p:cNvSpPr/>
            <p:nvPr/>
          </p:nvSpPr>
          <p:spPr>
            <a:xfrm>
              <a:off x="287388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80" name="Google Shape;471;p30"/>
            <p:cNvSpPr/>
            <p:nvPr/>
          </p:nvSpPr>
          <p:spPr>
            <a:xfrm>
              <a:off x="307800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81" name="Google Shape;472;p30"/>
            <p:cNvSpPr/>
            <p:nvPr/>
          </p:nvSpPr>
          <p:spPr>
            <a:xfrm>
              <a:off x="328212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82" name="Google Shape;473;p30"/>
            <p:cNvSpPr/>
            <p:nvPr/>
          </p:nvSpPr>
          <p:spPr>
            <a:xfrm>
              <a:off x="348624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383" name="Google Shape;474;p30"/>
          <p:cNvSpPr/>
          <p:nvPr/>
        </p:nvSpPr>
        <p:spPr>
          <a:xfrm>
            <a:off x="5287003" y="1307880"/>
            <a:ext cx="2851920" cy="285192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76200">
            <a:solidFill>
              <a:srgbClr val="F8F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 noProof="0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384" name="Google Shape;475;p30"/>
          <p:cNvGrpSpPr/>
          <p:nvPr/>
        </p:nvGrpSpPr>
        <p:grpSpPr>
          <a:xfrm>
            <a:off x="4643640" y="2814840"/>
            <a:ext cx="2188080" cy="1862640"/>
            <a:chOff x="4643640" y="2814840"/>
            <a:chExt cx="2188080" cy="1862640"/>
          </a:xfrm>
        </p:grpSpPr>
        <p:sp>
          <p:nvSpPr>
            <p:cNvPr id="385" name="Google Shape;476;p30"/>
            <p:cNvSpPr/>
            <p:nvPr/>
          </p:nvSpPr>
          <p:spPr>
            <a:xfrm rot="18900000">
              <a:off x="5941080" y="422748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86" name="Google Shape;477;p30"/>
            <p:cNvSpPr/>
            <p:nvPr/>
          </p:nvSpPr>
          <p:spPr>
            <a:xfrm>
              <a:off x="4643640" y="2814840"/>
              <a:ext cx="1596240" cy="1596240"/>
            </a:xfrm>
            <a:prstGeom prst="ellipse">
              <a:avLst/>
            </a:prstGeom>
            <a:noFill/>
            <a:ln w="9525">
              <a:solidFill>
                <a:srgbClr val="F8F8F8"/>
              </a:solidFill>
              <a:prstDash val="lg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26DFE6F-04F0-7DD7-C08F-B0E3E407EC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11" y="102728"/>
            <a:ext cx="3605253" cy="164394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0C49042-0DE1-1429-D907-309153CE9EF7}"/>
              </a:ext>
            </a:extLst>
          </p:cNvPr>
          <p:cNvSpPr/>
          <p:nvPr/>
        </p:nvSpPr>
        <p:spPr>
          <a:xfrm>
            <a:off x="111049" y="4886100"/>
            <a:ext cx="4524704" cy="257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noProof="0" dirty="0">
                <a:solidFill>
                  <a:schemeClr val="tx1"/>
                </a:solidFill>
              </a:rPr>
              <a:t>Cloudera, Inc. (2023). </a:t>
            </a:r>
            <a:r>
              <a:rPr lang="en-US" sz="900" i="1" noProof="0" dirty="0">
                <a:solidFill>
                  <a:schemeClr val="tx1"/>
                </a:solidFill>
              </a:rPr>
              <a:t>About us</a:t>
            </a:r>
            <a:r>
              <a:rPr lang="en-US" sz="900" noProof="0" dirty="0">
                <a:solidFill>
                  <a:schemeClr val="tx1"/>
                </a:solidFill>
              </a:rPr>
              <a:t>. </a:t>
            </a:r>
            <a:r>
              <a:rPr lang="en-US" sz="900" noProof="0" dirty="0">
                <a:solidFill>
                  <a:schemeClr val="tx1"/>
                </a:solidFill>
                <a:hlinkClick r:id="rId4"/>
              </a:rPr>
              <a:t>https://www.cloudera.com/about.html</a:t>
            </a:r>
            <a:r>
              <a:rPr lang="en-US" sz="900" noProof="0" dirty="0">
                <a:solidFill>
                  <a:schemeClr val="tx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529;p35"/>
          <p:cNvGrpSpPr/>
          <p:nvPr/>
        </p:nvGrpSpPr>
        <p:grpSpPr>
          <a:xfrm>
            <a:off x="3979080" y="6840"/>
            <a:ext cx="5164200" cy="5143320"/>
            <a:chOff x="3979080" y="6840"/>
            <a:chExt cx="5164200" cy="5143320"/>
          </a:xfrm>
        </p:grpSpPr>
        <p:sp>
          <p:nvSpPr>
            <p:cNvPr id="400" name="Google Shape;530;p35"/>
            <p:cNvSpPr/>
            <p:nvPr/>
          </p:nvSpPr>
          <p:spPr>
            <a:xfrm flipH="1">
              <a:off x="3978720" y="6840"/>
              <a:ext cx="5164200" cy="5143320"/>
            </a:xfrm>
            <a:prstGeom prst="rtTriangl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01" name="Google Shape;531;p35"/>
            <p:cNvSpPr/>
            <p:nvPr/>
          </p:nvSpPr>
          <p:spPr>
            <a:xfrm rot="18900600">
              <a:off x="4520880" y="364752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02" name="Google Shape;532;p35"/>
            <p:cNvSpPr/>
            <p:nvPr/>
          </p:nvSpPr>
          <p:spPr>
            <a:xfrm rot="18900600">
              <a:off x="7184160" y="224532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03" name="Google Shape;533;p35"/>
            <p:cNvSpPr/>
            <p:nvPr/>
          </p:nvSpPr>
          <p:spPr>
            <a:xfrm rot="18900600">
              <a:off x="6716520" y="116676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04" name="Google Shape;534;p35"/>
            <p:cNvSpPr/>
            <p:nvPr/>
          </p:nvSpPr>
          <p:spPr>
            <a:xfrm rot="18900600">
              <a:off x="5940360" y="357156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05" name="Google Shape;535;p35"/>
            <p:cNvSpPr/>
            <p:nvPr/>
          </p:nvSpPr>
          <p:spPr>
            <a:xfrm>
              <a:off x="6778080" y="2891160"/>
              <a:ext cx="1596240" cy="1596240"/>
            </a:xfrm>
            <a:prstGeom prst="ellipse">
              <a:avLst/>
            </a:prstGeom>
            <a:noFill/>
            <a:ln w="9525">
              <a:solidFill>
                <a:srgbClr val="F8F8F8"/>
              </a:solidFill>
              <a:prstDash val="lg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-1" y="6840"/>
            <a:ext cx="5499749" cy="45312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1" i="0" noProof="0" dirty="0">
                <a:effectLst/>
                <a:latin typeface="Poppins" panose="00000500000000000000" pitchFamily="2" charset="0"/>
              </a:rPr>
              <a:t>Cloudera: Enterprise Data Management</a:t>
            </a:r>
            <a:endParaRPr lang="en-US" sz="1800" b="1" strike="noStrike" spc="-1" noProof="0" dirty="0">
              <a:latin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0994848-EF3F-D775-C21A-EAC6FF71DD2E}"/>
              </a:ext>
            </a:extLst>
          </p:cNvPr>
          <p:cNvGrpSpPr/>
          <p:nvPr/>
        </p:nvGrpSpPr>
        <p:grpSpPr>
          <a:xfrm>
            <a:off x="370832" y="488558"/>
            <a:ext cx="3027124" cy="2402602"/>
            <a:chOff x="490312" y="867880"/>
            <a:chExt cx="3421240" cy="3421240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4" name="Diamond 3">
              <a:extLst>
                <a:ext uri="{FF2B5EF4-FFF2-40B4-BE49-F238E27FC236}">
                  <a16:creationId xmlns:a16="http://schemas.microsoft.com/office/drawing/2014/main" id="{8E411AEA-40B4-BE59-76F0-0100971386D5}"/>
                </a:ext>
              </a:extLst>
            </p:cNvPr>
            <p:cNvSpPr/>
            <p:nvPr/>
          </p:nvSpPr>
          <p:spPr>
            <a:xfrm>
              <a:off x="490312" y="867880"/>
              <a:ext cx="3421240" cy="3421240"/>
            </a:xfrm>
            <a:prstGeom prst="diamond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 z="-12700">
              <a:bevelT w="190500" h="38100"/>
            </a:sp3d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dk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b="1" noProof="0" dirty="0">
                <a:solidFill>
                  <a:srgbClr val="002060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398EFF9-DE0D-8BA3-E64B-33E07A8FE11B}"/>
                </a:ext>
              </a:extLst>
            </p:cNvPr>
            <p:cNvSpPr/>
            <p:nvPr/>
          </p:nvSpPr>
          <p:spPr>
            <a:xfrm>
              <a:off x="815330" y="1192897"/>
              <a:ext cx="1334283" cy="1334283"/>
            </a:xfrm>
            <a:custGeom>
              <a:avLst/>
              <a:gdLst>
                <a:gd name="connsiteX0" fmla="*/ 0 w 1334283"/>
                <a:gd name="connsiteY0" fmla="*/ 222385 h 1334283"/>
                <a:gd name="connsiteX1" fmla="*/ 222385 w 1334283"/>
                <a:gd name="connsiteY1" fmla="*/ 0 h 1334283"/>
                <a:gd name="connsiteX2" fmla="*/ 1111898 w 1334283"/>
                <a:gd name="connsiteY2" fmla="*/ 0 h 1334283"/>
                <a:gd name="connsiteX3" fmla="*/ 1334283 w 1334283"/>
                <a:gd name="connsiteY3" fmla="*/ 222385 h 1334283"/>
                <a:gd name="connsiteX4" fmla="*/ 1334283 w 1334283"/>
                <a:gd name="connsiteY4" fmla="*/ 1111898 h 1334283"/>
                <a:gd name="connsiteX5" fmla="*/ 1111898 w 1334283"/>
                <a:gd name="connsiteY5" fmla="*/ 1334283 h 1334283"/>
                <a:gd name="connsiteX6" fmla="*/ 222385 w 1334283"/>
                <a:gd name="connsiteY6" fmla="*/ 1334283 h 1334283"/>
                <a:gd name="connsiteX7" fmla="*/ 0 w 1334283"/>
                <a:gd name="connsiteY7" fmla="*/ 1111898 h 1334283"/>
                <a:gd name="connsiteX8" fmla="*/ 0 w 1334283"/>
                <a:gd name="connsiteY8" fmla="*/ 222385 h 1334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4283" h="1334283">
                  <a:moveTo>
                    <a:pt x="0" y="222385"/>
                  </a:moveTo>
                  <a:cubicBezTo>
                    <a:pt x="0" y="99565"/>
                    <a:pt x="99565" y="0"/>
                    <a:pt x="222385" y="0"/>
                  </a:cubicBezTo>
                  <a:lnTo>
                    <a:pt x="1111898" y="0"/>
                  </a:lnTo>
                  <a:cubicBezTo>
                    <a:pt x="1234718" y="0"/>
                    <a:pt x="1334283" y="99565"/>
                    <a:pt x="1334283" y="222385"/>
                  </a:cubicBezTo>
                  <a:lnTo>
                    <a:pt x="1334283" y="1111898"/>
                  </a:lnTo>
                  <a:cubicBezTo>
                    <a:pt x="1334283" y="1234718"/>
                    <a:pt x="1234718" y="1334283"/>
                    <a:pt x="1111898" y="1334283"/>
                  </a:cubicBezTo>
                  <a:lnTo>
                    <a:pt x="222385" y="1334283"/>
                  </a:lnTo>
                  <a:cubicBezTo>
                    <a:pt x="99565" y="1334283"/>
                    <a:pt x="0" y="1234718"/>
                    <a:pt x="0" y="1111898"/>
                  </a:cubicBezTo>
                  <a:lnTo>
                    <a:pt x="0" y="222385"/>
                  </a:lnTo>
                  <a:close/>
                </a:path>
              </a:pathLst>
            </a:cu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8474" tIns="118474" rIns="118474" bIns="118474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 noProof="0" dirty="0">
                  <a:solidFill>
                    <a:srgbClr val="002060"/>
                  </a:solidFill>
                </a:rPr>
                <a:t>Unified Hybrid/Multi-Cloud Platform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A4A87F1-9592-0F64-5516-1D22492B87D8}"/>
                </a:ext>
              </a:extLst>
            </p:cNvPr>
            <p:cNvSpPr/>
            <p:nvPr/>
          </p:nvSpPr>
          <p:spPr>
            <a:xfrm>
              <a:off x="2252251" y="1192897"/>
              <a:ext cx="1334283" cy="1334283"/>
            </a:xfrm>
            <a:custGeom>
              <a:avLst/>
              <a:gdLst>
                <a:gd name="connsiteX0" fmla="*/ 0 w 1334283"/>
                <a:gd name="connsiteY0" fmla="*/ 222385 h 1334283"/>
                <a:gd name="connsiteX1" fmla="*/ 222385 w 1334283"/>
                <a:gd name="connsiteY1" fmla="*/ 0 h 1334283"/>
                <a:gd name="connsiteX2" fmla="*/ 1111898 w 1334283"/>
                <a:gd name="connsiteY2" fmla="*/ 0 h 1334283"/>
                <a:gd name="connsiteX3" fmla="*/ 1334283 w 1334283"/>
                <a:gd name="connsiteY3" fmla="*/ 222385 h 1334283"/>
                <a:gd name="connsiteX4" fmla="*/ 1334283 w 1334283"/>
                <a:gd name="connsiteY4" fmla="*/ 1111898 h 1334283"/>
                <a:gd name="connsiteX5" fmla="*/ 1111898 w 1334283"/>
                <a:gd name="connsiteY5" fmla="*/ 1334283 h 1334283"/>
                <a:gd name="connsiteX6" fmla="*/ 222385 w 1334283"/>
                <a:gd name="connsiteY6" fmla="*/ 1334283 h 1334283"/>
                <a:gd name="connsiteX7" fmla="*/ 0 w 1334283"/>
                <a:gd name="connsiteY7" fmla="*/ 1111898 h 1334283"/>
                <a:gd name="connsiteX8" fmla="*/ 0 w 1334283"/>
                <a:gd name="connsiteY8" fmla="*/ 222385 h 1334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4283" h="1334283">
                  <a:moveTo>
                    <a:pt x="0" y="222385"/>
                  </a:moveTo>
                  <a:cubicBezTo>
                    <a:pt x="0" y="99565"/>
                    <a:pt x="99565" y="0"/>
                    <a:pt x="222385" y="0"/>
                  </a:cubicBezTo>
                  <a:lnTo>
                    <a:pt x="1111898" y="0"/>
                  </a:lnTo>
                  <a:cubicBezTo>
                    <a:pt x="1234718" y="0"/>
                    <a:pt x="1334283" y="99565"/>
                    <a:pt x="1334283" y="222385"/>
                  </a:cubicBezTo>
                  <a:lnTo>
                    <a:pt x="1334283" y="1111898"/>
                  </a:lnTo>
                  <a:cubicBezTo>
                    <a:pt x="1334283" y="1234718"/>
                    <a:pt x="1234718" y="1334283"/>
                    <a:pt x="1111898" y="1334283"/>
                  </a:cubicBezTo>
                  <a:lnTo>
                    <a:pt x="222385" y="1334283"/>
                  </a:lnTo>
                  <a:cubicBezTo>
                    <a:pt x="99565" y="1334283"/>
                    <a:pt x="0" y="1234718"/>
                    <a:pt x="0" y="1111898"/>
                  </a:cubicBezTo>
                  <a:lnTo>
                    <a:pt x="0" y="222385"/>
                  </a:lnTo>
                  <a:close/>
                </a:path>
              </a:pathLst>
            </a:cu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8474" tIns="118474" rIns="118474" bIns="118474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 noProof="0" dirty="0">
                  <a:solidFill>
                    <a:srgbClr val="002060"/>
                  </a:solidFill>
                </a:rPr>
                <a:t>Hadoop-Based Solution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719BB0C-6C67-B114-EA69-6260FEAAC346}"/>
                </a:ext>
              </a:extLst>
            </p:cNvPr>
            <p:cNvSpPr/>
            <p:nvPr/>
          </p:nvSpPr>
          <p:spPr>
            <a:xfrm>
              <a:off x="815330" y="2629818"/>
              <a:ext cx="1334283" cy="1334283"/>
            </a:xfrm>
            <a:custGeom>
              <a:avLst/>
              <a:gdLst>
                <a:gd name="connsiteX0" fmla="*/ 0 w 1334283"/>
                <a:gd name="connsiteY0" fmla="*/ 222385 h 1334283"/>
                <a:gd name="connsiteX1" fmla="*/ 222385 w 1334283"/>
                <a:gd name="connsiteY1" fmla="*/ 0 h 1334283"/>
                <a:gd name="connsiteX2" fmla="*/ 1111898 w 1334283"/>
                <a:gd name="connsiteY2" fmla="*/ 0 h 1334283"/>
                <a:gd name="connsiteX3" fmla="*/ 1334283 w 1334283"/>
                <a:gd name="connsiteY3" fmla="*/ 222385 h 1334283"/>
                <a:gd name="connsiteX4" fmla="*/ 1334283 w 1334283"/>
                <a:gd name="connsiteY4" fmla="*/ 1111898 h 1334283"/>
                <a:gd name="connsiteX5" fmla="*/ 1111898 w 1334283"/>
                <a:gd name="connsiteY5" fmla="*/ 1334283 h 1334283"/>
                <a:gd name="connsiteX6" fmla="*/ 222385 w 1334283"/>
                <a:gd name="connsiteY6" fmla="*/ 1334283 h 1334283"/>
                <a:gd name="connsiteX7" fmla="*/ 0 w 1334283"/>
                <a:gd name="connsiteY7" fmla="*/ 1111898 h 1334283"/>
                <a:gd name="connsiteX8" fmla="*/ 0 w 1334283"/>
                <a:gd name="connsiteY8" fmla="*/ 222385 h 1334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4283" h="1334283">
                  <a:moveTo>
                    <a:pt x="0" y="222385"/>
                  </a:moveTo>
                  <a:cubicBezTo>
                    <a:pt x="0" y="99565"/>
                    <a:pt x="99565" y="0"/>
                    <a:pt x="222385" y="0"/>
                  </a:cubicBezTo>
                  <a:lnTo>
                    <a:pt x="1111898" y="0"/>
                  </a:lnTo>
                  <a:cubicBezTo>
                    <a:pt x="1234718" y="0"/>
                    <a:pt x="1334283" y="99565"/>
                    <a:pt x="1334283" y="222385"/>
                  </a:cubicBezTo>
                  <a:lnTo>
                    <a:pt x="1334283" y="1111898"/>
                  </a:lnTo>
                  <a:cubicBezTo>
                    <a:pt x="1334283" y="1234718"/>
                    <a:pt x="1234718" y="1334283"/>
                    <a:pt x="1111898" y="1334283"/>
                  </a:cubicBezTo>
                  <a:lnTo>
                    <a:pt x="222385" y="1334283"/>
                  </a:lnTo>
                  <a:cubicBezTo>
                    <a:pt x="99565" y="1334283"/>
                    <a:pt x="0" y="1234718"/>
                    <a:pt x="0" y="1111898"/>
                  </a:cubicBezTo>
                  <a:lnTo>
                    <a:pt x="0" y="222385"/>
                  </a:lnTo>
                  <a:close/>
                </a:path>
              </a:pathLst>
            </a:cu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8474" tIns="118474" rIns="118474" bIns="118474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 noProof="0" dirty="0">
                  <a:solidFill>
                    <a:srgbClr val="002060"/>
                  </a:solidFill>
                </a:rPr>
                <a:t>Centralized Data Management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9FCE00F-7F52-9868-6494-A5615DFFC71A}"/>
                </a:ext>
              </a:extLst>
            </p:cNvPr>
            <p:cNvSpPr/>
            <p:nvPr/>
          </p:nvSpPr>
          <p:spPr>
            <a:xfrm>
              <a:off x="2252251" y="2629818"/>
              <a:ext cx="1334283" cy="1334283"/>
            </a:xfrm>
            <a:custGeom>
              <a:avLst/>
              <a:gdLst>
                <a:gd name="connsiteX0" fmla="*/ 0 w 1334283"/>
                <a:gd name="connsiteY0" fmla="*/ 222385 h 1334283"/>
                <a:gd name="connsiteX1" fmla="*/ 222385 w 1334283"/>
                <a:gd name="connsiteY1" fmla="*/ 0 h 1334283"/>
                <a:gd name="connsiteX2" fmla="*/ 1111898 w 1334283"/>
                <a:gd name="connsiteY2" fmla="*/ 0 h 1334283"/>
                <a:gd name="connsiteX3" fmla="*/ 1334283 w 1334283"/>
                <a:gd name="connsiteY3" fmla="*/ 222385 h 1334283"/>
                <a:gd name="connsiteX4" fmla="*/ 1334283 w 1334283"/>
                <a:gd name="connsiteY4" fmla="*/ 1111898 h 1334283"/>
                <a:gd name="connsiteX5" fmla="*/ 1111898 w 1334283"/>
                <a:gd name="connsiteY5" fmla="*/ 1334283 h 1334283"/>
                <a:gd name="connsiteX6" fmla="*/ 222385 w 1334283"/>
                <a:gd name="connsiteY6" fmla="*/ 1334283 h 1334283"/>
                <a:gd name="connsiteX7" fmla="*/ 0 w 1334283"/>
                <a:gd name="connsiteY7" fmla="*/ 1111898 h 1334283"/>
                <a:gd name="connsiteX8" fmla="*/ 0 w 1334283"/>
                <a:gd name="connsiteY8" fmla="*/ 222385 h 1334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4283" h="1334283">
                  <a:moveTo>
                    <a:pt x="0" y="222385"/>
                  </a:moveTo>
                  <a:cubicBezTo>
                    <a:pt x="0" y="99565"/>
                    <a:pt x="99565" y="0"/>
                    <a:pt x="222385" y="0"/>
                  </a:cubicBezTo>
                  <a:lnTo>
                    <a:pt x="1111898" y="0"/>
                  </a:lnTo>
                  <a:cubicBezTo>
                    <a:pt x="1234718" y="0"/>
                    <a:pt x="1334283" y="99565"/>
                    <a:pt x="1334283" y="222385"/>
                  </a:cubicBezTo>
                  <a:lnTo>
                    <a:pt x="1334283" y="1111898"/>
                  </a:lnTo>
                  <a:cubicBezTo>
                    <a:pt x="1334283" y="1234718"/>
                    <a:pt x="1234718" y="1334283"/>
                    <a:pt x="1111898" y="1334283"/>
                  </a:cubicBezTo>
                  <a:lnTo>
                    <a:pt x="222385" y="1334283"/>
                  </a:lnTo>
                  <a:cubicBezTo>
                    <a:pt x="99565" y="1334283"/>
                    <a:pt x="0" y="1234718"/>
                    <a:pt x="0" y="1111898"/>
                  </a:cubicBezTo>
                  <a:lnTo>
                    <a:pt x="0" y="222385"/>
                  </a:lnTo>
                  <a:close/>
                </a:path>
              </a:pathLst>
            </a:cu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8474" tIns="118474" rIns="118474" bIns="118474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 noProof="0" dirty="0">
                  <a:solidFill>
                    <a:srgbClr val="002060"/>
                  </a:solidFill>
                </a:rPr>
                <a:t>Data Lifecycle Components</a:t>
              </a:r>
            </a:p>
          </p:txBody>
        </p:sp>
      </p:grpSp>
      <p:sp>
        <p:nvSpPr>
          <p:cNvPr id="409" name="Google Shape;539;p35"/>
          <p:cNvSpPr/>
          <p:nvPr/>
        </p:nvSpPr>
        <p:spPr>
          <a:xfrm>
            <a:off x="5397480" y="1055160"/>
            <a:ext cx="3033000" cy="303300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38100">
            <a:solidFill>
              <a:srgbClr val="F8F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 noProof="0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410" name="Google Shape;540;p35"/>
          <p:cNvGrpSpPr/>
          <p:nvPr/>
        </p:nvGrpSpPr>
        <p:grpSpPr>
          <a:xfrm>
            <a:off x="5405400" y="1044360"/>
            <a:ext cx="3160080" cy="3290760"/>
            <a:chOff x="5405400" y="1044360"/>
            <a:chExt cx="3160080" cy="3290760"/>
          </a:xfrm>
        </p:grpSpPr>
        <p:sp>
          <p:nvSpPr>
            <p:cNvPr id="411" name="Google Shape;541;p35"/>
            <p:cNvSpPr/>
            <p:nvPr/>
          </p:nvSpPr>
          <p:spPr>
            <a:xfrm rot="18900000">
              <a:off x="7674840" y="137952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2" name="Google Shape;542;p35"/>
            <p:cNvSpPr/>
            <p:nvPr/>
          </p:nvSpPr>
          <p:spPr>
            <a:xfrm rot="18900000">
              <a:off x="5299920" y="388512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BAB6F57-0F24-FAB4-A4EE-6B16C7E1EB0F}"/>
              </a:ext>
            </a:extLst>
          </p:cNvPr>
          <p:cNvSpPr/>
          <p:nvPr/>
        </p:nvSpPr>
        <p:spPr>
          <a:xfrm>
            <a:off x="80451" y="2734991"/>
            <a:ext cx="4157968" cy="19411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sz="1100" noProof="0" dirty="0">
                <a:solidFill>
                  <a:srgbClr val="000000"/>
                </a:solidFill>
              </a:rPr>
              <a:t>Cloudera offers a unified platform for large-scale data engineering, analytics, ML &amp; Governance</a:t>
            </a:r>
          </a:p>
          <a:p>
            <a:pPr marL="342900" indent="-342900">
              <a:buAutoNum type="arabicPeriod"/>
            </a:pPr>
            <a:r>
              <a:rPr lang="en-US" sz="1100" noProof="0" dirty="0">
                <a:solidFill>
                  <a:srgbClr val="000000"/>
                </a:solidFill>
              </a:rPr>
              <a:t>Specializes in Hadoop-based solutions tailored for complex data workflows.</a:t>
            </a:r>
          </a:p>
          <a:p>
            <a:pPr marL="342900" indent="-342900">
              <a:buAutoNum type="arabicPeriod"/>
            </a:pPr>
            <a:r>
              <a:rPr lang="en-US" sz="1100" noProof="0" dirty="0">
                <a:solidFill>
                  <a:srgbClr val="000000"/>
                </a:solidFill>
              </a:rPr>
              <a:t>Cloudera Data Platform (CDP) centralizes the entire data lifecycle management</a:t>
            </a:r>
          </a:p>
          <a:p>
            <a:pPr marL="342900" indent="-342900">
              <a:buAutoNum type="arabicPeriod"/>
            </a:pPr>
            <a:r>
              <a:rPr lang="en-US" sz="1100" noProof="0" dirty="0">
                <a:solidFill>
                  <a:srgbClr val="000000"/>
                </a:solidFill>
              </a:rPr>
              <a:t>CDP manages data ingest, processing, analysis and governance seamlessly.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CA1D62-0BDF-B70F-5562-395485DF59A1}"/>
              </a:ext>
            </a:extLst>
          </p:cNvPr>
          <p:cNvSpPr/>
          <p:nvPr/>
        </p:nvSpPr>
        <p:spPr>
          <a:xfrm>
            <a:off x="-23185" y="4767191"/>
            <a:ext cx="4238419" cy="3829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noProof="0" dirty="0">
                <a:solidFill>
                  <a:schemeClr val="bg1">
                    <a:lumMod val="10000"/>
                  </a:schemeClr>
                </a:solidFill>
              </a:rPr>
              <a:t>Cloudera, Inc. (2023). </a:t>
            </a:r>
            <a:r>
              <a:rPr lang="en-US" sz="900" i="1" noProof="0" dirty="0">
                <a:solidFill>
                  <a:schemeClr val="bg1">
                    <a:lumMod val="10000"/>
                  </a:schemeClr>
                </a:solidFill>
              </a:rPr>
              <a:t>Cloudera Data Platform: The enterprise data cloud</a:t>
            </a:r>
            <a:r>
              <a:rPr lang="en-US" sz="900" noProof="0" dirty="0">
                <a:solidFill>
                  <a:schemeClr val="bg1">
                    <a:lumMod val="10000"/>
                  </a:schemeClr>
                </a:solidFill>
              </a:rPr>
              <a:t>. </a:t>
            </a:r>
            <a:r>
              <a:rPr lang="en-US" sz="900" noProof="0" dirty="0">
                <a:solidFill>
                  <a:schemeClr val="bg1">
                    <a:lumMod val="10000"/>
                  </a:schemeClr>
                </a:solidFill>
                <a:hlinkClick r:id="rId3"/>
              </a:rPr>
              <a:t>https://www.cloudera.com/products/cloudera-data-platform.html</a:t>
            </a:r>
            <a:r>
              <a:rPr lang="en-US" sz="900" noProof="0" dirty="0">
                <a:solidFill>
                  <a:schemeClr val="bg1">
                    <a:lumMod val="10000"/>
                  </a:schemeClr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D73FB1-6964-5495-E4D2-C7EBA39AA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55" y="1007842"/>
            <a:ext cx="2950108" cy="3323878"/>
          </a:xfrm>
          <a:prstGeom prst="rect">
            <a:avLst/>
          </a:prstGeom>
        </p:spPr>
      </p:pic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1661938" y="291173"/>
            <a:ext cx="5820123" cy="52060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i="0" noProof="0" dirty="0">
                <a:solidFill>
                  <a:srgbClr val="07071B"/>
                </a:solidFill>
                <a:effectLst/>
                <a:latin typeface="Poppins" panose="00000500000000000000" pitchFamily="2" charset="0"/>
              </a:rPr>
              <a:t>Cloudera's Data Management Features</a:t>
            </a:r>
            <a:endParaRPr lang="en-US" sz="4800" b="0" strike="noStrike" spc="-1" noProof="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5ABF76-F50D-152D-5E8A-02C00B40C676}"/>
              </a:ext>
            </a:extLst>
          </p:cNvPr>
          <p:cNvSpPr/>
          <p:nvPr/>
        </p:nvSpPr>
        <p:spPr>
          <a:xfrm>
            <a:off x="3323877" y="1007842"/>
            <a:ext cx="4645419" cy="6007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noProof="0" dirty="0">
                <a:solidFill>
                  <a:srgbClr val="000000"/>
                </a:solidFill>
              </a:rPr>
              <a:t>Data Governance with SDX</a:t>
            </a:r>
          </a:p>
          <a:p>
            <a:r>
              <a:rPr lang="en-US" sz="1000" noProof="0" dirty="0">
                <a:solidFill>
                  <a:srgbClr val="000000"/>
                </a:solidFill>
              </a:rPr>
              <a:t>SDX enforces consistent security, metadata and compliance policies for data governance.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D83563-667C-4D10-CDB9-C44DE396115F}"/>
              </a:ext>
            </a:extLst>
          </p:cNvPr>
          <p:cNvSpPr/>
          <p:nvPr/>
        </p:nvSpPr>
        <p:spPr>
          <a:xfrm>
            <a:off x="3323874" y="1899441"/>
            <a:ext cx="4645419" cy="6007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noProof="0" dirty="0">
                <a:solidFill>
                  <a:srgbClr val="000000"/>
                </a:solidFill>
              </a:rPr>
              <a:t>Scalability Across Clouds</a:t>
            </a:r>
          </a:p>
          <a:p>
            <a:r>
              <a:rPr lang="en-US" sz="1000" noProof="0" dirty="0">
                <a:solidFill>
                  <a:srgbClr val="000000"/>
                </a:solidFill>
              </a:rPr>
              <a:t>Cloudera supports petabytes of data across hybrid clouds including AWS, Azure and on-prem solutions.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5DC1E7-4F3C-8F6D-D617-36845E1FBE1C}"/>
              </a:ext>
            </a:extLst>
          </p:cNvPr>
          <p:cNvSpPr/>
          <p:nvPr/>
        </p:nvSpPr>
        <p:spPr>
          <a:xfrm>
            <a:off x="3323874" y="2815230"/>
            <a:ext cx="4645419" cy="6007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noProof="0" dirty="0">
                <a:solidFill>
                  <a:srgbClr val="000000"/>
                </a:solidFill>
              </a:rPr>
              <a:t>Analytics and Machine Learning Tools</a:t>
            </a:r>
          </a:p>
          <a:p>
            <a:r>
              <a:rPr lang="en-US" sz="1000" noProof="0" dirty="0">
                <a:solidFill>
                  <a:srgbClr val="000000"/>
                </a:solidFill>
              </a:rPr>
              <a:t>Tools like Cloudera Machine Learning (CML) enable self-service analytics and insights.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307EED-BB8D-43D2-E44F-07A5CAE9C710}"/>
              </a:ext>
            </a:extLst>
          </p:cNvPr>
          <p:cNvSpPr/>
          <p:nvPr/>
        </p:nvSpPr>
        <p:spPr>
          <a:xfrm>
            <a:off x="3323874" y="3731019"/>
            <a:ext cx="4645419" cy="6007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noProof="0" dirty="0">
                <a:solidFill>
                  <a:srgbClr val="000000"/>
                </a:solidFill>
              </a:rPr>
              <a:t>Robust Security Features</a:t>
            </a:r>
          </a:p>
          <a:p>
            <a:r>
              <a:rPr lang="en-US" sz="1000" noProof="0" dirty="0">
                <a:solidFill>
                  <a:srgbClr val="000000"/>
                </a:solidFill>
              </a:rPr>
              <a:t>Cloudera offers role-based access control (RBAC), encryption and audit trails for security.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2905FDE-B362-A8FC-A92C-E77A719E08E7}"/>
              </a:ext>
            </a:extLst>
          </p:cNvPr>
          <p:cNvCxnSpPr/>
          <p:nvPr/>
        </p:nvCxnSpPr>
        <p:spPr>
          <a:xfrm>
            <a:off x="3423994" y="1735358"/>
            <a:ext cx="536626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80394D-1A58-3A13-94AC-B2A11138780A}"/>
              </a:ext>
            </a:extLst>
          </p:cNvPr>
          <p:cNvCxnSpPr/>
          <p:nvPr/>
        </p:nvCxnSpPr>
        <p:spPr>
          <a:xfrm>
            <a:off x="3423994" y="2641971"/>
            <a:ext cx="536626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53C548-AAF2-C197-B78C-593EFDCA6D59}"/>
              </a:ext>
            </a:extLst>
          </p:cNvPr>
          <p:cNvCxnSpPr/>
          <p:nvPr/>
        </p:nvCxnSpPr>
        <p:spPr>
          <a:xfrm>
            <a:off x="3423994" y="3548584"/>
            <a:ext cx="536626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331BD06-192A-F0A3-FE74-3142FB16D0C1}"/>
              </a:ext>
            </a:extLst>
          </p:cNvPr>
          <p:cNvSpPr/>
          <p:nvPr/>
        </p:nvSpPr>
        <p:spPr>
          <a:xfrm>
            <a:off x="7842482" y="941097"/>
            <a:ext cx="947772" cy="66160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A17D38-5B36-14EC-B41A-ADAC71E2E0EE}"/>
              </a:ext>
            </a:extLst>
          </p:cNvPr>
          <p:cNvSpPr/>
          <p:nvPr/>
        </p:nvSpPr>
        <p:spPr>
          <a:xfrm>
            <a:off x="7842482" y="1857864"/>
            <a:ext cx="947772" cy="661601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963F82-48C2-53C6-5D61-604BD449CD38}"/>
              </a:ext>
            </a:extLst>
          </p:cNvPr>
          <p:cNvSpPr/>
          <p:nvPr/>
        </p:nvSpPr>
        <p:spPr>
          <a:xfrm>
            <a:off x="7842482" y="2774631"/>
            <a:ext cx="947772" cy="661601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00A31A-89AA-E019-9591-5691428366DF}"/>
              </a:ext>
            </a:extLst>
          </p:cNvPr>
          <p:cNvSpPr/>
          <p:nvPr/>
        </p:nvSpPr>
        <p:spPr>
          <a:xfrm>
            <a:off x="7842482" y="3691398"/>
            <a:ext cx="947772" cy="661601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93D7FA-781E-98A7-D0F8-5EAE808E59CC}"/>
              </a:ext>
            </a:extLst>
          </p:cNvPr>
          <p:cNvSpPr/>
          <p:nvPr/>
        </p:nvSpPr>
        <p:spPr>
          <a:xfrm>
            <a:off x="246955" y="4738861"/>
            <a:ext cx="8543299" cy="313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noProof="0" dirty="0">
                <a:solidFill>
                  <a:srgbClr val="000000"/>
                </a:solidFill>
              </a:rPr>
              <a:t>Cloudera, Inc. (2023). </a:t>
            </a:r>
            <a:r>
              <a:rPr lang="en-US" sz="900" i="1" noProof="0" dirty="0">
                <a:solidFill>
                  <a:srgbClr val="000000"/>
                </a:solidFill>
              </a:rPr>
              <a:t>Cloudera data management platform</a:t>
            </a:r>
            <a:r>
              <a:rPr lang="en-US" sz="900" noProof="0" dirty="0">
                <a:solidFill>
                  <a:srgbClr val="000000"/>
                </a:solidFill>
              </a:rPr>
              <a:t>. </a:t>
            </a:r>
            <a:r>
              <a:rPr lang="en-US" sz="900" noProof="0" dirty="0">
                <a:solidFill>
                  <a:srgbClr val="000000"/>
                </a:solidFill>
                <a:hlinkClick r:id="rId7"/>
              </a:rPr>
              <a:t>https://www.cloudera.com/products/cloudera-data-platform.html</a:t>
            </a:r>
            <a:r>
              <a:rPr lang="en-US" sz="900" noProof="0" dirty="0">
                <a:solidFill>
                  <a:srgbClr val="0000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830;p46"/>
          <p:cNvGrpSpPr/>
          <p:nvPr/>
        </p:nvGrpSpPr>
        <p:grpSpPr>
          <a:xfrm>
            <a:off x="4644000" y="-1800"/>
            <a:ext cx="4500000" cy="4366800"/>
            <a:chOff x="4644000" y="-1800"/>
            <a:chExt cx="4500000" cy="4366800"/>
          </a:xfrm>
        </p:grpSpPr>
        <p:sp>
          <p:nvSpPr>
            <p:cNvPr id="388" name="Google Shape;831;p46"/>
            <p:cNvSpPr/>
            <p:nvPr/>
          </p:nvSpPr>
          <p:spPr>
            <a:xfrm rot="10800000">
              <a:off x="4714560" y="-1800"/>
              <a:ext cx="4429440" cy="4366800"/>
            </a:xfrm>
            <a:prstGeom prst="rtTriangl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89" name="Google Shape;832;p46"/>
            <p:cNvSpPr/>
            <p:nvPr/>
          </p:nvSpPr>
          <p:spPr>
            <a:xfrm rot="13500000" flipH="1">
              <a:off x="7674840" y="372996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90" name="Google Shape;833;p46"/>
            <p:cNvSpPr/>
            <p:nvPr/>
          </p:nvSpPr>
          <p:spPr>
            <a:xfrm rot="13499400" flipH="1">
              <a:off x="4984920" y="154620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91" name="Google Shape;834;p46"/>
            <p:cNvSpPr/>
            <p:nvPr/>
          </p:nvSpPr>
          <p:spPr>
            <a:xfrm rot="13499400" flipH="1">
              <a:off x="7200720" y="213552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92" name="Google Shape;835;p46"/>
            <p:cNvSpPr/>
            <p:nvPr/>
          </p:nvSpPr>
          <p:spPr>
            <a:xfrm rot="13499400" flipH="1">
              <a:off x="7200000" y="305136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93" name="Google Shape;836;p46"/>
            <p:cNvSpPr/>
            <p:nvPr/>
          </p:nvSpPr>
          <p:spPr>
            <a:xfrm rot="13499400" flipH="1">
              <a:off x="5127120" y="82116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94" name="Google Shape;837;p46"/>
            <p:cNvSpPr/>
            <p:nvPr/>
          </p:nvSpPr>
          <p:spPr>
            <a:xfrm rot="10800000" flipH="1">
              <a:off x="4644000" y="737280"/>
              <a:ext cx="1596240" cy="1596240"/>
            </a:xfrm>
            <a:prstGeom prst="ellipse">
              <a:avLst/>
            </a:prstGeom>
            <a:noFill/>
            <a:ln w="9525">
              <a:solidFill>
                <a:srgbClr val="F8F8F8"/>
              </a:solidFill>
              <a:prstDash val="lg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95" name="Google Shape;838;p46"/>
            <p:cNvSpPr/>
            <p:nvPr/>
          </p:nvSpPr>
          <p:spPr>
            <a:xfrm rot="13500000" flipH="1">
              <a:off x="6245640" y="80604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398" name="Google Shape;841;p46"/>
          <p:cNvSpPr/>
          <p:nvPr/>
        </p:nvSpPr>
        <p:spPr>
          <a:xfrm>
            <a:off x="5397480" y="1055160"/>
            <a:ext cx="3033000" cy="303300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38100">
            <a:solidFill>
              <a:srgbClr val="F8F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 noProof="0" dirty="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30F4D3-B55C-79A0-BFF9-EA04D7097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773" y="115824"/>
            <a:ext cx="2235632" cy="1596242"/>
          </a:xfrm>
          <a:prstGeom prst="rect">
            <a:avLst/>
          </a:prstGeom>
        </p:spPr>
      </p:pic>
      <p:sp>
        <p:nvSpPr>
          <p:cNvPr id="4" name="PlaceHolder 2">
            <a:extLst>
              <a:ext uri="{FF2B5EF4-FFF2-40B4-BE49-F238E27FC236}">
                <a16:creationId xmlns:a16="http://schemas.microsoft.com/office/drawing/2014/main" id="{55C3352B-BFC8-4E9C-0A7A-ABCCC573834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56266" y="1857674"/>
            <a:ext cx="4762248" cy="27209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4443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1" noProof="0" dirty="0"/>
              <a:t>IBM Cloud Overview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noProof="0" dirty="0"/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noProof="0" dirty="0"/>
              <a:t>IBM Cloud is a comprehensive cloud computing platform developed by IBM that offers both infrastructure-as-a-service (IaaS) and platform-as-a-service (PaaS) capabilities. It supports a wide range of services including compute, storage, artificial intelligence, analytics, DevOps, and security.</a:t>
            </a:r>
            <a:endParaRPr lang="en-US" sz="1800" b="0" strike="noStrike" spc="-1" noProof="0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923CD8-3D53-D73B-96E2-3E67B5265C13}"/>
              </a:ext>
            </a:extLst>
          </p:cNvPr>
          <p:cNvSpPr/>
          <p:nvPr/>
        </p:nvSpPr>
        <p:spPr>
          <a:xfrm>
            <a:off x="256266" y="4772234"/>
            <a:ext cx="5793425" cy="2554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noProof="0" dirty="0">
                <a:solidFill>
                  <a:srgbClr val="000000"/>
                </a:solidFill>
              </a:rPr>
              <a:t>IBM. (2023). </a:t>
            </a:r>
            <a:r>
              <a:rPr lang="en-US" sz="900" i="1" noProof="0" dirty="0">
                <a:solidFill>
                  <a:srgbClr val="000000"/>
                </a:solidFill>
              </a:rPr>
              <a:t>What is IBM Cloud?</a:t>
            </a:r>
            <a:r>
              <a:rPr lang="en-US" sz="900" noProof="0" dirty="0">
                <a:solidFill>
                  <a:srgbClr val="000000"/>
                </a:solidFill>
              </a:rPr>
              <a:t> </a:t>
            </a:r>
            <a:r>
              <a:rPr lang="en-US" sz="900" noProof="0" dirty="0">
                <a:solidFill>
                  <a:srgbClr val="000000"/>
                </a:solidFill>
                <a:hlinkClick r:id="rId4"/>
              </a:rPr>
              <a:t>https://www.ibm.com/cloud/what-is-cloud-computing</a:t>
            </a:r>
            <a:r>
              <a:rPr lang="en-US" sz="900" noProof="0" dirty="0">
                <a:solidFill>
                  <a:srgbClr val="0000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133489" y="294260"/>
            <a:ext cx="6990840" cy="54421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i="0" noProof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IBM Cloud: AI-Driven Data Management</a:t>
            </a:r>
            <a:endParaRPr lang="en-US" sz="2000" b="1" strike="noStrike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CAD346-C8DF-42C1-7871-6EC52979C703}"/>
              </a:ext>
            </a:extLst>
          </p:cNvPr>
          <p:cNvSpPr/>
          <p:nvPr/>
        </p:nvSpPr>
        <p:spPr>
          <a:xfrm>
            <a:off x="133489" y="861004"/>
            <a:ext cx="2529618" cy="17107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noProof="0" dirty="0">
              <a:solidFill>
                <a:srgbClr val="000000"/>
              </a:solidFill>
            </a:endParaRPr>
          </a:p>
          <a:p>
            <a:endParaRPr lang="en-US" sz="1400" noProof="0" dirty="0">
              <a:solidFill>
                <a:srgbClr val="000000"/>
              </a:solidFill>
            </a:endParaRPr>
          </a:p>
          <a:p>
            <a:r>
              <a:rPr lang="en-US" sz="1400" b="1" noProof="0" dirty="0">
                <a:solidFill>
                  <a:srgbClr val="000000"/>
                </a:solidFill>
              </a:rPr>
              <a:t>Full-stack Cloud Platform</a:t>
            </a:r>
          </a:p>
          <a:p>
            <a:endParaRPr lang="en-US" sz="1000" noProof="0" dirty="0">
              <a:solidFill>
                <a:srgbClr val="000000"/>
              </a:solidFill>
            </a:endParaRPr>
          </a:p>
          <a:p>
            <a:r>
              <a:rPr lang="en-US" sz="1000" noProof="0" dirty="0">
                <a:solidFill>
                  <a:srgbClr val="000000"/>
                </a:solidFill>
              </a:rPr>
              <a:t>Offers a comprehensive cloud solution with AI/ML capabilities, enhancing data workflows.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FC5BDC-8B30-0FCF-980F-39E588588396}"/>
              </a:ext>
            </a:extLst>
          </p:cNvPr>
          <p:cNvSpPr/>
          <p:nvPr/>
        </p:nvSpPr>
        <p:spPr>
          <a:xfrm>
            <a:off x="2762111" y="861004"/>
            <a:ext cx="2529618" cy="17107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noProof="0" dirty="0">
              <a:solidFill>
                <a:srgbClr val="000000"/>
              </a:solidFill>
            </a:endParaRPr>
          </a:p>
          <a:p>
            <a:endParaRPr lang="en-US" sz="1400" b="1" noProof="0" dirty="0">
              <a:solidFill>
                <a:srgbClr val="000000"/>
              </a:solidFill>
            </a:endParaRPr>
          </a:p>
          <a:p>
            <a:r>
              <a:rPr lang="en-US" sz="1400" b="1" noProof="0" dirty="0">
                <a:solidFill>
                  <a:srgbClr val="000000"/>
                </a:solidFill>
              </a:rPr>
              <a:t>AI/ML Integration</a:t>
            </a:r>
          </a:p>
          <a:p>
            <a:endParaRPr lang="en-US" sz="1000" noProof="0" dirty="0">
              <a:solidFill>
                <a:srgbClr val="000000"/>
              </a:solidFill>
            </a:endParaRPr>
          </a:p>
          <a:p>
            <a:r>
              <a:rPr lang="en-US" sz="1000" noProof="0" dirty="0">
                <a:solidFill>
                  <a:srgbClr val="000000"/>
                </a:solidFill>
              </a:rPr>
              <a:t>Utilizes IBM Watson for intelligent automation and data analysis, improving decision-making.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C3B2BA-2E54-8C2B-8F18-40D8B4A64BCA}"/>
              </a:ext>
            </a:extLst>
          </p:cNvPr>
          <p:cNvSpPr/>
          <p:nvPr/>
        </p:nvSpPr>
        <p:spPr>
          <a:xfrm>
            <a:off x="5390733" y="861004"/>
            <a:ext cx="2529618" cy="17107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noProof="0" dirty="0">
              <a:solidFill>
                <a:srgbClr val="000000"/>
              </a:solidFill>
            </a:endParaRPr>
          </a:p>
          <a:p>
            <a:endParaRPr lang="en-US" sz="1400" noProof="0" dirty="0">
              <a:solidFill>
                <a:srgbClr val="000000"/>
              </a:solidFill>
            </a:endParaRPr>
          </a:p>
          <a:p>
            <a:r>
              <a:rPr lang="en-US" sz="1400" b="1" noProof="0" dirty="0">
                <a:solidFill>
                  <a:srgbClr val="000000"/>
                </a:solidFill>
              </a:rPr>
              <a:t>Hybrid Cloud Leadership</a:t>
            </a:r>
          </a:p>
          <a:p>
            <a:endParaRPr lang="en-US" sz="1000" noProof="0" dirty="0">
              <a:solidFill>
                <a:srgbClr val="000000"/>
              </a:solidFill>
            </a:endParaRPr>
          </a:p>
          <a:p>
            <a:r>
              <a:rPr lang="en-US" sz="1000" noProof="0" dirty="0">
                <a:solidFill>
                  <a:srgbClr val="000000"/>
                </a:solidFill>
              </a:rPr>
              <a:t>Leverages Red Hat OpenShift for seamless integration across multiple cloud environments.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EEAB31-5813-8E45-BB13-E30F8A23E5C0}"/>
              </a:ext>
            </a:extLst>
          </p:cNvPr>
          <p:cNvSpPr/>
          <p:nvPr/>
        </p:nvSpPr>
        <p:spPr>
          <a:xfrm>
            <a:off x="133489" y="2805810"/>
            <a:ext cx="2529618" cy="17107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b="1" noProof="0" dirty="0">
              <a:solidFill>
                <a:srgbClr val="000000"/>
              </a:solidFill>
            </a:endParaRPr>
          </a:p>
          <a:p>
            <a:endParaRPr lang="en-US" sz="1400" b="1" noProof="0" dirty="0">
              <a:solidFill>
                <a:srgbClr val="000000"/>
              </a:solidFill>
            </a:endParaRPr>
          </a:p>
          <a:p>
            <a:r>
              <a:rPr lang="en-US" sz="1400" b="1" noProof="0" dirty="0">
                <a:solidFill>
                  <a:srgbClr val="000000"/>
                </a:solidFill>
              </a:rPr>
              <a:t>IBM Cloud Pak for Data</a:t>
            </a:r>
          </a:p>
          <a:p>
            <a:endParaRPr lang="en-US" sz="1000" noProof="0" dirty="0">
              <a:solidFill>
                <a:srgbClr val="000000"/>
              </a:solidFill>
            </a:endParaRPr>
          </a:p>
          <a:p>
            <a:r>
              <a:rPr lang="en-US" sz="1000" noProof="0" dirty="0">
                <a:solidFill>
                  <a:srgbClr val="000000"/>
                </a:solidFill>
              </a:rPr>
              <a:t>A unified platform facilitating data integration, governance and AI automation for enterprises.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EF9D07-576B-074C-277F-5ABA5807E4AC}"/>
              </a:ext>
            </a:extLst>
          </p:cNvPr>
          <p:cNvSpPr/>
          <p:nvPr/>
        </p:nvSpPr>
        <p:spPr>
          <a:xfrm>
            <a:off x="2762111" y="2805810"/>
            <a:ext cx="2529618" cy="17107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b="1" noProof="0">
              <a:solidFill>
                <a:srgbClr val="000000"/>
              </a:solidFill>
            </a:endParaRPr>
          </a:p>
          <a:p>
            <a:endParaRPr lang="en-US" sz="1400" b="1" noProof="0" dirty="0">
              <a:solidFill>
                <a:srgbClr val="000000"/>
              </a:solidFill>
            </a:endParaRPr>
          </a:p>
          <a:p>
            <a:r>
              <a:rPr lang="en-US" sz="1400" b="1" noProof="0" dirty="0">
                <a:solidFill>
                  <a:srgbClr val="000000"/>
                </a:solidFill>
              </a:rPr>
              <a:t>Target Users</a:t>
            </a:r>
          </a:p>
          <a:p>
            <a:endParaRPr lang="en-US" sz="1000" noProof="0" dirty="0">
              <a:solidFill>
                <a:srgbClr val="000000"/>
              </a:solidFill>
            </a:endParaRPr>
          </a:p>
          <a:p>
            <a:r>
              <a:rPr lang="en-US" sz="1000" noProof="0" dirty="0">
                <a:solidFill>
                  <a:srgbClr val="000000"/>
                </a:solidFill>
              </a:rPr>
              <a:t>Designed for enterprises seeking AI-driven insights and flexibility in hybrid/multi-cloud setups.</a:t>
            </a:r>
            <a:endParaRPr lang="en-US" noProof="0" dirty="0">
              <a:solidFill>
                <a:srgbClr val="00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2D3361-7049-CD7C-2533-BEA5763EB6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64" y="861004"/>
            <a:ext cx="609604" cy="6096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5B3CDC-770D-6DEF-DA31-743F9626F5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22181" y="861004"/>
            <a:ext cx="609604" cy="6096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1E7372-D255-88F4-4D05-FE3EEBEEB3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50802" y="890443"/>
            <a:ext cx="696083" cy="5801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3F4D487-EB1B-45C8-ADD4-0EA18CA64F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7964" y="2816476"/>
            <a:ext cx="609604" cy="6096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90E4BF7-349E-F695-EF17-B2907C9570E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22181" y="2816476"/>
            <a:ext cx="609604" cy="609604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2BC0DE-842D-90F7-47ED-632C3E278EE0}"/>
              </a:ext>
            </a:extLst>
          </p:cNvPr>
          <p:cNvCxnSpPr>
            <a:stCxn id="2" idx="2"/>
          </p:cNvCxnSpPr>
          <p:nvPr/>
        </p:nvCxnSpPr>
        <p:spPr>
          <a:xfrm>
            <a:off x="1398298" y="2571750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D6FDD83-51B0-2E87-2EFB-DCE68A451EC1}"/>
              </a:ext>
            </a:extLst>
          </p:cNvPr>
          <p:cNvCxnSpPr/>
          <p:nvPr/>
        </p:nvCxnSpPr>
        <p:spPr>
          <a:xfrm>
            <a:off x="157964" y="2571750"/>
            <a:ext cx="7978194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65530C-558E-069D-C031-90759103C1A1}"/>
              </a:ext>
            </a:extLst>
          </p:cNvPr>
          <p:cNvCxnSpPr/>
          <p:nvPr/>
        </p:nvCxnSpPr>
        <p:spPr>
          <a:xfrm>
            <a:off x="2609711" y="890443"/>
            <a:ext cx="0" cy="3414579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49E6CD3-29AF-0FAA-2B55-E01A3E532CA9}"/>
              </a:ext>
            </a:extLst>
          </p:cNvPr>
          <p:cNvCxnSpPr/>
          <p:nvPr/>
        </p:nvCxnSpPr>
        <p:spPr>
          <a:xfrm>
            <a:off x="5238333" y="890442"/>
            <a:ext cx="0" cy="3414579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AF30832-4684-91C0-92EF-6DFF2398394A}"/>
              </a:ext>
            </a:extLst>
          </p:cNvPr>
          <p:cNvSpPr/>
          <p:nvPr/>
        </p:nvSpPr>
        <p:spPr>
          <a:xfrm>
            <a:off x="133488" y="4614954"/>
            <a:ext cx="6990829" cy="2869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rgbClr val="000000"/>
                </a:solidFill>
              </a:rPr>
              <a:t>IBM. (2023). </a:t>
            </a:r>
            <a:r>
              <a:rPr lang="en-US" sz="800" i="1" dirty="0">
                <a:solidFill>
                  <a:srgbClr val="000000"/>
                </a:solidFill>
              </a:rPr>
              <a:t>IBM Cloud: Accelerate innovation with hybrid cloud and AI</a:t>
            </a:r>
            <a:r>
              <a:rPr lang="en-US" sz="800" dirty="0">
                <a:solidFill>
                  <a:srgbClr val="000000"/>
                </a:solidFill>
              </a:rPr>
              <a:t>. </a:t>
            </a:r>
            <a:r>
              <a:rPr lang="en-US" sz="800" dirty="0">
                <a:solidFill>
                  <a:srgbClr val="000000"/>
                </a:solidFill>
                <a:hlinkClick r:id="rId7"/>
              </a:rPr>
              <a:t>https://www.ibm.com/cloud</a:t>
            </a:r>
            <a:r>
              <a:rPr lang="en-US" sz="80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53E110-AE55-5FB4-429D-70CC640A2953}"/>
              </a:ext>
            </a:extLst>
          </p:cNvPr>
          <p:cNvSpPr/>
          <p:nvPr/>
        </p:nvSpPr>
        <p:spPr>
          <a:xfrm>
            <a:off x="133488" y="4824651"/>
            <a:ext cx="6990829" cy="2869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n-NO" sz="800" dirty="0">
                <a:solidFill>
                  <a:srgbClr val="000000"/>
                </a:solidFill>
              </a:rPr>
              <a:t>IBM. (2023). </a:t>
            </a:r>
            <a:r>
              <a:rPr lang="nn-NO" sz="800" i="1" dirty="0">
                <a:solidFill>
                  <a:srgbClr val="000000"/>
                </a:solidFill>
              </a:rPr>
              <a:t>IBM Cloud Pak for Data</a:t>
            </a:r>
            <a:r>
              <a:rPr lang="nn-NO" sz="800" dirty="0">
                <a:solidFill>
                  <a:srgbClr val="000000"/>
                </a:solidFill>
              </a:rPr>
              <a:t>. </a:t>
            </a:r>
            <a:r>
              <a:rPr lang="nn-NO" sz="800" dirty="0">
                <a:solidFill>
                  <a:srgbClr val="000000"/>
                </a:solidFill>
                <a:hlinkClick r:id="rId8"/>
              </a:rPr>
              <a:t>https://www.ibm.com/products/cloud-pak-for-data</a:t>
            </a:r>
            <a:r>
              <a:rPr lang="nn-NO" sz="800" dirty="0">
                <a:solidFill>
                  <a:srgbClr val="000000"/>
                </a:solidFill>
              </a:rPr>
              <a:t> </a:t>
            </a:r>
            <a:endParaRPr lang="en-US" sz="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 idx="4294967295"/>
          </p:nvPr>
        </p:nvSpPr>
        <p:spPr>
          <a:xfrm>
            <a:off x="100117" y="139683"/>
            <a:ext cx="4532208" cy="7947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i="0" dirty="0">
                <a:solidFill>
                  <a:srgbClr val="07071B"/>
                </a:solidFill>
                <a:effectLst/>
                <a:latin typeface="Poppins" panose="00000500000000000000" pitchFamily="2" charset="0"/>
              </a:rPr>
              <a:t>IBM Cloud – Key Features for Data Management</a:t>
            </a:r>
            <a:endParaRPr lang="en-US" sz="2000" b="0" strike="noStrike" spc="-1" noProof="0" dirty="0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440" name="Google Shape;540;p35"/>
          <p:cNvGrpSpPr/>
          <p:nvPr/>
        </p:nvGrpSpPr>
        <p:grpSpPr>
          <a:xfrm>
            <a:off x="5405400" y="1044360"/>
            <a:ext cx="3160080" cy="3290760"/>
            <a:chOff x="5405400" y="1044360"/>
            <a:chExt cx="3160080" cy="3290760"/>
          </a:xfrm>
        </p:grpSpPr>
        <p:sp>
          <p:nvSpPr>
            <p:cNvPr id="441" name="Google Shape;541;p35"/>
            <p:cNvSpPr/>
            <p:nvPr/>
          </p:nvSpPr>
          <p:spPr>
            <a:xfrm rot="18900000">
              <a:off x="7674840" y="137952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42" name="Google Shape;542;p35"/>
            <p:cNvSpPr/>
            <p:nvPr/>
          </p:nvSpPr>
          <p:spPr>
            <a:xfrm rot="18900000">
              <a:off x="5299920" y="388512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B963450-6DDE-02DF-03F2-1CE6785BA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816" y="73419"/>
            <a:ext cx="4214144" cy="49370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B7F8AFB-A353-45E1-6269-686655CC0604}"/>
              </a:ext>
            </a:extLst>
          </p:cNvPr>
          <p:cNvSpPr/>
          <p:nvPr/>
        </p:nvSpPr>
        <p:spPr>
          <a:xfrm>
            <a:off x="100117" y="1044230"/>
            <a:ext cx="3977974" cy="6007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noProof="0" dirty="0">
                <a:solidFill>
                  <a:srgbClr val="000000"/>
                </a:solidFill>
              </a:rPr>
              <a:t>Data Integration with Watson Query</a:t>
            </a:r>
          </a:p>
          <a:p>
            <a:endParaRPr lang="en-US" sz="700" baseline="-25000" noProof="0" dirty="0">
              <a:solidFill>
                <a:srgbClr val="000000"/>
              </a:solidFill>
            </a:endParaRPr>
          </a:p>
          <a:p>
            <a:r>
              <a:rPr lang="en-US" sz="1000" noProof="0" dirty="0">
                <a:solidFill>
                  <a:srgbClr val="000000"/>
                </a:solidFill>
              </a:rPr>
              <a:t>Enables federated queries across distributed data sources, enhancing data accessibility.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06EFB1-F908-D6BB-E0D8-EB3117BC9199}"/>
              </a:ext>
            </a:extLst>
          </p:cNvPr>
          <p:cNvSpPr/>
          <p:nvPr/>
        </p:nvSpPr>
        <p:spPr>
          <a:xfrm>
            <a:off x="100114" y="1935829"/>
            <a:ext cx="3977974" cy="6007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noProof="0" dirty="0">
                <a:solidFill>
                  <a:srgbClr val="000000"/>
                </a:solidFill>
              </a:rPr>
              <a:t>AI and ML Integration</a:t>
            </a:r>
          </a:p>
          <a:p>
            <a:endParaRPr lang="en-US" sz="600" noProof="0" dirty="0">
              <a:solidFill>
                <a:srgbClr val="000000"/>
              </a:solidFill>
            </a:endParaRPr>
          </a:p>
          <a:p>
            <a:r>
              <a:rPr lang="en-US" sz="1000" noProof="0" dirty="0">
                <a:solidFill>
                  <a:srgbClr val="000000"/>
                </a:solidFill>
              </a:rPr>
              <a:t>Utilizes Auto AI for automated model building and Watson Studio for collaborative machine learning.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3B0615-2937-3952-311F-330EAFC32F2C}"/>
              </a:ext>
            </a:extLst>
          </p:cNvPr>
          <p:cNvSpPr/>
          <p:nvPr/>
        </p:nvSpPr>
        <p:spPr>
          <a:xfrm>
            <a:off x="100114" y="2851618"/>
            <a:ext cx="3977974" cy="6007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noProof="0" dirty="0">
                <a:solidFill>
                  <a:srgbClr val="000000"/>
                </a:solidFill>
              </a:rPr>
              <a:t>Hybrid Cloud Capabilities</a:t>
            </a:r>
          </a:p>
          <a:p>
            <a:endParaRPr lang="en-US" sz="700" noProof="0" dirty="0">
              <a:solidFill>
                <a:srgbClr val="000000"/>
              </a:solidFill>
            </a:endParaRPr>
          </a:p>
          <a:p>
            <a:r>
              <a:rPr lang="en-US" sz="1000" noProof="0" dirty="0">
                <a:solidFill>
                  <a:srgbClr val="000000"/>
                </a:solidFill>
              </a:rPr>
              <a:t>Facilitates seamless data portability across public, private and on-premise environments.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199A7C-6339-F6B2-21BA-C57EA4D9BFC3}"/>
              </a:ext>
            </a:extLst>
          </p:cNvPr>
          <p:cNvSpPr/>
          <p:nvPr/>
        </p:nvSpPr>
        <p:spPr>
          <a:xfrm>
            <a:off x="100114" y="3767407"/>
            <a:ext cx="3977974" cy="6007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noProof="0" dirty="0">
                <a:solidFill>
                  <a:srgbClr val="000000"/>
                </a:solidFill>
              </a:rPr>
              <a:t>Robust Security Features</a:t>
            </a:r>
          </a:p>
          <a:p>
            <a:endParaRPr lang="en-US" sz="700" noProof="0" dirty="0">
              <a:solidFill>
                <a:srgbClr val="000000"/>
              </a:solidFill>
            </a:endParaRPr>
          </a:p>
          <a:p>
            <a:r>
              <a:rPr lang="en-US" sz="1000" noProof="0" dirty="0">
                <a:solidFill>
                  <a:srgbClr val="000000"/>
                </a:solidFill>
              </a:rPr>
              <a:t>Offers ‘Keep </a:t>
            </a:r>
            <a:r>
              <a:rPr lang="de-DE" sz="1000">
                <a:solidFill>
                  <a:srgbClr val="000000"/>
                </a:solidFill>
              </a:rPr>
              <a:t>Y</a:t>
            </a:r>
            <a:r>
              <a:rPr lang="en-US" sz="1000" noProof="0">
                <a:solidFill>
                  <a:srgbClr val="000000"/>
                </a:solidFill>
              </a:rPr>
              <a:t>our </a:t>
            </a:r>
            <a:r>
              <a:rPr lang="en-US" sz="1000" noProof="0" dirty="0">
                <a:solidFill>
                  <a:srgbClr val="000000"/>
                </a:solidFill>
              </a:rPr>
              <a:t>Own Key’ encryption and ensures GDPR Compliance for data protection.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4D7058-61C0-9A73-684E-571F81BED33C}"/>
              </a:ext>
            </a:extLst>
          </p:cNvPr>
          <p:cNvCxnSpPr>
            <a:cxnSpLocks/>
          </p:cNvCxnSpPr>
          <p:nvPr/>
        </p:nvCxnSpPr>
        <p:spPr>
          <a:xfrm>
            <a:off x="226931" y="1771746"/>
            <a:ext cx="475888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3FECD9-F971-E001-A4B5-85E04AA505C4}"/>
              </a:ext>
            </a:extLst>
          </p:cNvPr>
          <p:cNvCxnSpPr>
            <a:cxnSpLocks/>
          </p:cNvCxnSpPr>
          <p:nvPr/>
        </p:nvCxnSpPr>
        <p:spPr>
          <a:xfrm>
            <a:off x="226931" y="2678359"/>
            <a:ext cx="475888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0A94E8-C325-AE9F-738A-DEA053B52DB8}"/>
              </a:ext>
            </a:extLst>
          </p:cNvPr>
          <p:cNvCxnSpPr>
            <a:cxnSpLocks/>
          </p:cNvCxnSpPr>
          <p:nvPr/>
        </p:nvCxnSpPr>
        <p:spPr>
          <a:xfrm>
            <a:off x="226931" y="3584972"/>
            <a:ext cx="475888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328752E-5B8C-3FBF-15B8-7BFA0FCAFE93}"/>
              </a:ext>
            </a:extLst>
          </p:cNvPr>
          <p:cNvSpPr/>
          <p:nvPr/>
        </p:nvSpPr>
        <p:spPr>
          <a:xfrm>
            <a:off x="3957696" y="977492"/>
            <a:ext cx="947772" cy="687645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F9168D-5C26-78AC-DB2F-3BA6D3F56D79}"/>
              </a:ext>
            </a:extLst>
          </p:cNvPr>
          <p:cNvSpPr/>
          <p:nvPr/>
        </p:nvSpPr>
        <p:spPr>
          <a:xfrm>
            <a:off x="3957693" y="1910149"/>
            <a:ext cx="947772" cy="661601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8E9BD3-C07B-1DFD-9A3D-957F0AD3CB35}"/>
              </a:ext>
            </a:extLst>
          </p:cNvPr>
          <p:cNvSpPr/>
          <p:nvPr/>
        </p:nvSpPr>
        <p:spPr>
          <a:xfrm>
            <a:off x="3957690" y="2842806"/>
            <a:ext cx="947772" cy="661601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33168A-E32C-3739-3266-561DEC4DD761}"/>
              </a:ext>
            </a:extLst>
          </p:cNvPr>
          <p:cNvSpPr/>
          <p:nvPr/>
        </p:nvSpPr>
        <p:spPr>
          <a:xfrm>
            <a:off x="3957687" y="3775463"/>
            <a:ext cx="947772" cy="661601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FABA3B-F3A8-2BB4-04A7-433523BAC55B}"/>
              </a:ext>
            </a:extLst>
          </p:cNvPr>
          <p:cNvSpPr/>
          <p:nvPr/>
        </p:nvSpPr>
        <p:spPr>
          <a:xfrm>
            <a:off x="100114" y="4860872"/>
            <a:ext cx="7355249" cy="313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rgbClr val="000000"/>
                </a:solidFill>
              </a:rPr>
              <a:t>IBM. (2023). </a:t>
            </a:r>
            <a:r>
              <a:rPr lang="en-US" sz="800" i="1" dirty="0">
                <a:solidFill>
                  <a:srgbClr val="000000"/>
                </a:solidFill>
              </a:rPr>
              <a:t>IBM Cloud Pak for Data: Unify and simplify your data</a:t>
            </a:r>
            <a:r>
              <a:rPr lang="en-US" sz="800" dirty="0">
                <a:solidFill>
                  <a:srgbClr val="000000"/>
                </a:solidFill>
              </a:rPr>
              <a:t>. </a:t>
            </a:r>
            <a:r>
              <a:rPr lang="en-US" sz="800" dirty="0">
                <a:solidFill>
                  <a:srgbClr val="000000"/>
                </a:solidFill>
                <a:hlinkClick r:id="rId7"/>
              </a:rPr>
              <a:t>https://www.ibm.com/products/cloud-pak-for-data</a:t>
            </a: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noProof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" name="Google Shape;1037;p55"/>
          <p:cNvGrpSpPr/>
          <p:nvPr/>
        </p:nvGrpSpPr>
        <p:grpSpPr>
          <a:xfrm>
            <a:off x="3979080" y="6840"/>
            <a:ext cx="5164200" cy="5143320"/>
            <a:chOff x="3979080" y="6840"/>
            <a:chExt cx="5164200" cy="5143320"/>
          </a:xfrm>
        </p:grpSpPr>
        <p:sp>
          <p:nvSpPr>
            <p:cNvPr id="462" name="Google Shape;1038;p55"/>
            <p:cNvSpPr/>
            <p:nvPr/>
          </p:nvSpPr>
          <p:spPr>
            <a:xfrm flipH="1">
              <a:off x="3978720" y="6840"/>
              <a:ext cx="5164200" cy="5143320"/>
            </a:xfrm>
            <a:prstGeom prst="rtTriangl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463" name="Google Shape;1039;p55"/>
            <p:cNvGrpSpPr/>
            <p:nvPr/>
          </p:nvGrpSpPr>
          <p:grpSpPr>
            <a:xfrm>
              <a:off x="4666320" y="607680"/>
              <a:ext cx="4152240" cy="4000680"/>
              <a:chOff x="4666320" y="607680"/>
              <a:chExt cx="4152240" cy="4000680"/>
            </a:xfrm>
          </p:grpSpPr>
          <p:sp>
            <p:nvSpPr>
              <p:cNvPr id="464" name="Google Shape;1040;p55"/>
              <p:cNvSpPr/>
              <p:nvPr/>
            </p:nvSpPr>
            <p:spPr>
              <a:xfrm rot="18900600">
                <a:off x="4520880" y="3647520"/>
                <a:ext cx="1779480" cy="32616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65" name="Google Shape;1041;p55"/>
              <p:cNvSpPr/>
              <p:nvPr/>
            </p:nvSpPr>
            <p:spPr>
              <a:xfrm rot="18900600">
                <a:off x="7184160" y="2245320"/>
                <a:ext cx="1779480" cy="32616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66" name="Google Shape;1042;p55"/>
              <p:cNvSpPr/>
              <p:nvPr/>
            </p:nvSpPr>
            <p:spPr>
              <a:xfrm rot="18900600">
                <a:off x="6716520" y="1166760"/>
                <a:ext cx="1779480" cy="47736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67" name="Google Shape;1043;p55"/>
              <p:cNvSpPr/>
              <p:nvPr/>
            </p:nvSpPr>
            <p:spPr>
              <a:xfrm rot="18900600">
                <a:off x="5940360" y="3571560"/>
                <a:ext cx="1779480" cy="47736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68" name="Google Shape;1044;p55"/>
              <p:cNvSpPr/>
              <p:nvPr/>
            </p:nvSpPr>
            <p:spPr>
              <a:xfrm>
                <a:off x="6778080" y="2891160"/>
                <a:ext cx="1596240" cy="1596240"/>
              </a:xfrm>
              <a:prstGeom prst="ellipse">
                <a:avLst/>
              </a:prstGeom>
              <a:noFill/>
              <a:ln w="9525">
                <a:solidFill>
                  <a:srgbClr val="F8F8F8"/>
                </a:solidFill>
                <a:prstDash val="lgDash"/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469" name="PlaceHolder 1"/>
          <p:cNvSpPr>
            <a:spLocks noGrp="1"/>
          </p:cNvSpPr>
          <p:nvPr>
            <p:ph type="title" idx="4294967295"/>
          </p:nvPr>
        </p:nvSpPr>
        <p:spPr>
          <a:xfrm>
            <a:off x="620105" y="588533"/>
            <a:ext cx="4629150" cy="10572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0" strike="noStrike" spc="-1" noProof="0" dirty="0">
                <a:solidFill>
                  <a:schemeClr val="dk1"/>
                </a:solidFill>
                <a:latin typeface="Archivo Black"/>
                <a:ea typeface="Archivo Black"/>
              </a:rPr>
              <a:t>Thank you!</a:t>
            </a:r>
            <a:endParaRPr lang="en-US" sz="5400" b="0" strike="noStrike" spc="-1" noProof="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470" name="PlaceHolder 2"/>
          <p:cNvSpPr>
            <a:spLocks noGrp="1"/>
          </p:cNvSpPr>
          <p:nvPr>
            <p:ph type="subTitle" idx="4294967295"/>
          </p:nvPr>
        </p:nvSpPr>
        <p:spPr>
          <a:xfrm>
            <a:off x="474030" y="1822335"/>
            <a:ext cx="4629150" cy="10572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 noProof="0" dirty="0">
                <a:solidFill>
                  <a:schemeClr val="dk1"/>
                </a:solidFill>
                <a:latin typeface="Manrope"/>
                <a:ea typeface="Manrope"/>
              </a:rPr>
              <a:t>Do you have any questions?</a:t>
            </a:r>
            <a:endParaRPr lang="en-US" sz="1600" b="0" strike="noStrike" spc="-1" noProof="0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473" name="Google Shape;1049;p55"/>
          <p:cNvGrpSpPr/>
          <p:nvPr/>
        </p:nvGrpSpPr>
        <p:grpSpPr>
          <a:xfrm>
            <a:off x="2460960" y="3060720"/>
            <a:ext cx="709920" cy="513720"/>
            <a:chOff x="2460960" y="3060720"/>
            <a:chExt cx="709920" cy="513720"/>
          </a:xfrm>
        </p:grpSpPr>
        <p:sp>
          <p:nvSpPr>
            <p:cNvPr id="474" name="Google Shape;1050;p55"/>
            <p:cNvSpPr/>
            <p:nvPr/>
          </p:nvSpPr>
          <p:spPr>
            <a:xfrm>
              <a:off x="2460960" y="3060720"/>
              <a:ext cx="709920" cy="51372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475" name="Google Shape;1051;p55"/>
            <p:cNvGrpSpPr/>
            <p:nvPr/>
          </p:nvGrpSpPr>
          <p:grpSpPr>
            <a:xfrm>
              <a:off x="2651400" y="3153240"/>
              <a:ext cx="328320" cy="328320"/>
              <a:chOff x="2651400" y="3153240"/>
              <a:chExt cx="328320" cy="328320"/>
            </a:xfrm>
          </p:grpSpPr>
          <p:sp>
            <p:nvSpPr>
              <p:cNvPr id="476" name="Google Shape;1052;p55"/>
              <p:cNvSpPr/>
              <p:nvPr/>
            </p:nvSpPr>
            <p:spPr>
              <a:xfrm>
                <a:off x="2806920" y="3210840"/>
                <a:ext cx="112320" cy="270720"/>
              </a:xfrm>
              <a:custGeom>
                <a:avLst/>
                <a:gdLst>
                  <a:gd name="textAreaLeft" fmla="*/ 0 w 112320"/>
                  <a:gd name="textAreaRight" fmla="*/ 112680 w 112320"/>
                  <a:gd name="textAreaTop" fmla="*/ 0 h 270720"/>
                  <a:gd name="textAreaBottom" fmla="*/ 271080 h 270720"/>
                </a:gdLst>
                <a:ahLst/>
                <a:cxnLst/>
                <a:rect l="textAreaLeft" t="textAreaTop" r="textAreaRight" b="textAreaBottom"/>
                <a:pathLst>
                  <a:path w="6527" h="15727">
                    <a:moveTo>
                      <a:pt x="4957" y="1"/>
                    </a:moveTo>
                    <a:cubicBezTo>
                      <a:pt x="4645" y="1"/>
                      <a:pt x="4336" y="24"/>
                      <a:pt x="4028" y="69"/>
                    </a:cubicBezTo>
                    <a:cubicBezTo>
                      <a:pt x="2588" y="280"/>
                      <a:pt x="1700" y="890"/>
                      <a:pt x="1675" y="2250"/>
                    </a:cubicBezTo>
                    <a:lnTo>
                      <a:pt x="1675" y="5040"/>
                    </a:lnTo>
                    <a:cubicBezTo>
                      <a:pt x="1675" y="5348"/>
                      <a:pt x="1426" y="5599"/>
                      <a:pt x="1118" y="5599"/>
                    </a:cubicBezTo>
                    <a:lnTo>
                      <a:pt x="0" y="5599"/>
                    </a:lnTo>
                    <a:lnTo>
                      <a:pt x="0" y="6715"/>
                    </a:lnTo>
                    <a:lnTo>
                      <a:pt x="1118" y="6715"/>
                    </a:lnTo>
                    <a:cubicBezTo>
                      <a:pt x="1426" y="6715"/>
                      <a:pt x="1675" y="6965"/>
                      <a:pt x="1675" y="7274"/>
                    </a:cubicBezTo>
                    <a:lnTo>
                      <a:pt x="1675" y="15727"/>
                    </a:lnTo>
                    <a:lnTo>
                      <a:pt x="3352" y="15727"/>
                    </a:lnTo>
                    <a:lnTo>
                      <a:pt x="3352" y="7274"/>
                    </a:lnTo>
                    <a:cubicBezTo>
                      <a:pt x="3352" y="6965"/>
                      <a:pt x="3602" y="6715"/>
                      <a:pt x="3910" y="6715"/>
                    </a:cubicBezTo>
                    <a:lnTo>
                      <a:pt x="5709" y="6715"/>
                    </a:lnTo>
                    <a:lnTo>
                      <a:pt x="5987" y="5599"/>
                    </a:lnTo>
                    <a:lnTo>
                      <a:pt x="3910" y="5599"/>
                    </a:lnTo>
                    <a:cubicBezTo>
                      <a:pt x="3602" y="5599"/>
                      <a:pt x="3352" y="5348"/>
                      <a:pt x="3352" y="5040"/>
                    </a:cubicBezTo>
                    <a:lnTo>
                      <a:pt x="3352" y="3253"/>
                    </a:lnTo>
                    <a:cubicBezTo>
                      <a:pt x="3352" y="2316"/>
                      <a:pt x="3942" y="1677"/>
                      <a:pt x="4968" y="1504"/>
                    </a:cubicBezTo>
                    <a:cubicBezTo>
                      <a:pt x="5157" y="1473"/>
                      <a:pt x="5339" y="1460"/>
                      <a:pt x="5511" y="1460"/>
                    </a:cubicBezTo>
                    <a:cubicBezTo>
                      <a:pt x="5810" y="1460"/>
                      <a:pt x="6082" y="1498"/>
                      <a:pt x="6324" y="1546"/>
                    </a:cubicBezTo>
                    <a:lnTo>
                      <a:pt x="6526" y="182"/>
                    </a:lnTo>
                    <a:cubicBezTo>
                      <a:pt x="5988" y="62"/>
                      <a:pt x="5468" y="1"/>
                      <a:pt x="49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77" name="Google Shape;1053;p55"/>
              <p:cNvSpPr/>
              <p:nvPr/>
            </p:nvSpPr>
            <p:spPr>
              <a:xfrm>
                <a:off x="2651400" y="3153240"/>
                <a:ext cx="328320" cy="328320"/>
              </a:xfrm>
              <a:custGeom>
                <a:avLst/>
                <a:gdLst>
                  <a:gd name="textAreaLeft" fmla="*/ 0 w 328320"/>
                  <a:gd name="textAreaRight" fmla="*/ 328680 w 328320"/>
                  <a:gd name="textAreaTop" fmla="*/ 0 h 328320"/>
                  <a:gd name="textAreaBottom" fmla="*/ 328680 h 328320"/>
                </a:gdLst>
                <a:ahLst/>
                <a:cxnLst/>
                <a:rect l="textAreaLeft" t="textAreaTop" r="textAreaRight" b="textAreaBottom"/>
                <a:pathLst>
                  <a:path w="19066" h="19065">
                    <a:moveTo>
                      <a:pt x="2794" y="0"/>
                    </a:moveTo>
                    <a:cubicBezTo>
                      <a:pt x="1255" y="0"/>
                      <a:pt x="1" y="1253"/>
                      <a:pt x="1" y="2793"/>
                    </a:cubicBezTo>
                    <a:lnTo>
                      <a:pt x="1" y="16271"/>
                    </a:lnTo>
                    <a:cubicBezTo>
                      <a:pt x="1" y="17812"/>
                      <a:pt x="1255" y="19065"/>
                      <a:pt x="2794" y="19065"/>
                    </a:cubicBezTo>
                    <a:lnTo>
                      <a:pt x="9571" y="19065"/>
                    </a:lnTo>
                    <a:lnTo>
                      <a:pt x="9571" y="11171"/>
                    </a:lnTo>
                    <a:lnTo>
                      <a:pt x="8453" y="11171"/>
                    </a:lnTo>
                    <a:cubicBezTo>
                      <a:pt x="8145" y="11171"/>
                      <a:pt x="7896" y="10920"/>
                      <a:pt x="7896" y="10612"/>
                    </a:cubicBezTo>
                    <a:lnTo>
                      <a:pt x="7896" y="8378"/>
                    </a:lnTo>
                    <a:cubicBezTo>
                      <a:pt x="7896" y="8070"/>
                      <a:pt x="8145" y="7819"/>
                      <a:pt x="8453" y="7819"/>
                    </a:cubicBezTo>
                    <a:lnTo>
                      <a:pt x="9571" y="7819"/>
                    </a:lnTo>
                    <a:lnTo>
                      <a:pt x="9571" y="5836"/>
                    </a:lnTo>
                    <a:cubicBezTo>
                      <a:pt x="9571" y="3710"/>
                      <a:pt x="10741" y="2615"/>
                      <a:pt x="12878" y="2302"/>
                    </a:cubicBezTo>
                    <a:cubicBezTo>
                      <a:pt x="13231" y="2249"/>
                      <a:pt x="13591" y="2223"/>
                      <a:pt x="13956" y="2223"/>
                    </a:cubicBezTo>
                    <a:cubicBezTo>
                      <a:pt x="14725" y="2223"/>
                      <a:pt x="15517" y="2339"/>
                      <a:pt x="16318" y="2567"/>
                    </a:cubicBezTo>
                    <a:cubicBezTo>
                      <a:pt x="16589" y="2643"/>
                      <a:pt x="16759" y="2908"/>
                      <a:pt x="16718" y="3186"/>
                    </a:cubicBezTo>
                    <a:lnTo>
                      <a:pt x="16352" y="5650"/>
                    </a:lnTo>
                    <a:cubicBezTo>
                      <a:pt x="16329" y="5806"/>
                      <a:pt x="16240" y="5944"/>
                      <a:pt x="16111" y="6031"/>
                    </a:cubicBezTo>
                    <a:cubicBezTo>
                      <a:pt x="16006" y="6102"/>
                      <a:pt x="15912" y="6127"/>
                      <a:pt x="15818" y="6127"/>
                    </a:cubicBezTo>
                    <a:cubicBezTo>
                      <a:pt x="15717" y="6127"/>
                      <a:pt x="15614" y="6098"/>
                      <a:pt x="15494" y="6068"/>
                    </a:cubicBezTo>
                    <a:cubicBezTo>
                      <a:pt x="15202" y="5995"/>
                      <a:pt x="14879" y="5914"/>
                      <a:pt x="14527" y="5914"/>
                    </a:cubicBezTo>
                    <a:cubicBezTo>
                      <a:pt x="14409" y="5914"/>
                      <a:pt x="14289" y="5923"/>
                      <a:pt x="14165" y="5944"/>
                    </a:cubicBezTo>
                    <a:cubicBezTo>
                      <a:pt x="13534" y="6050"/>
                      <a:pt x="13481" y="6333"/>
                      <a:pt x="13481" y="6590"/>
                    </a:cubicBezTo>
                    <a:lnTo>
                      <a:pt x="13481" y="7819"/>
                    </a:lnTo>
                    <a:lnTo>
                      <a:pt x="15715" y="7819"/>
                    </a:lnTo>
                    <a:cubicBezTo>
                      <a:pt x="15887" y="7819"/>
                      <a:pt x="16048" y="7899"/>
                      <a:pt x="16154" y="8035"/>
                    </a:cubicBezTo>
                    <a:cubicBezTo>
                      <a:pt x="16260" y="8169"/>
                      <a:pt x="16297" y="8346"/>
                      <a:pt x="16256" y="8513"/>
                    </a:cubicBezTo>
                    <a:lnTo>
                      <a:pt x="15697" y="10747"/>
                    </a:lnTo>
                    <a:cubicBezTo>
                      <a:pt x="15635" y="10996"/>
                      <a:pt x="15412" y="11170"/>
                      <a:pt x="15156" y="11170"/>
                    </a:cubicBezTo>
                    <a:lnTo>
                      <a:pt x="13481" y="11170"/>
                    </a:lnTo>
                    <a:lnTo>
                      <a:pt x="13481" y="19065"/>
                    </a:lnTo>
                    <a:lnTo>
                      <a:pt x="16272" y="19065"/>
                    </a:lnTo>
                    <a:cubicBezTo>
                      <a:pt x="17813" y="19065"/>
                      <a:pt x="19066" y="17810"/>
                      <a:pt x="19066" y="16271"/>
                    </a:cubicBezTo>
                    <a:lnTo>
                      <a:pt x="19066" y="2793"/>
                    </a:lnTo>
                    <a:cubicBezTo>
                      <a:pt x="19066" y="1253"/>
                      <a:pt x="17813" y="0"/>
                      <a:pt x="162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478" name="Google Shape;1054;p55"/>
          <p:cNvGrpSpPr/>
          <p:nvPr/>
        </p:nvGrpSpPr>
        <p:grpSpPr>
          <a:xfrm>
            <a:off x="781200" y="3060720"/>
            <a:ext cx="709920" cy="513720"/>
            <a:chOff x="781200" y="3060720"/>
            <a:chExt cx="709920" cy="513720"/>
          </a:xfrm>
        </p:grpSpPr>
        <p:sp>
          <p:nvSpPr>
            <p:cNvPr id="479" name="Google Shape;1055;p55"/>
            <p:cNvSpPr/>
            <p:nvPr/>
          </p:nvSpPr>
          <p:spPr>
            <a:xfrm>
              <a:off x="781200" y="3060720"/>
              <a:ext cx="709920" cy="51372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480" name="Google Shape;1056;p55"/>
            <p:cNvGrpSpPr/>
            <p:nvPr/>
          </p:nvGrpSpPr>
          <p:grpSpPr>
            <a:xfrm>
              <a:off x="972000" y="3153240"/>
              <a:ext cx="328320" cy="328320"/>
              <a:chOff x="972000" y="3153240"/>
              <a:chExt cx="328320" cy="328320"/>
            </a:xfrm>
          </p:grpSpPr>
          <p:sp>
            <p:nvSpPr>
              <p:cNvPr id="481" name="Google Shape;1057;p55"/>
              <p:cNvSpPr/>
              <p:nvPr/>
            </p:nvSpPr>
            <p:spPr>
              <a:xfrm>
                <a:off x="1040040" y="3211560"/>
                <a:ext cx="19080" cy="19080"/>
              </a:xfrm>
              <a:custGeom>
                <a:avLst/>
                <a:gdLst>
                  <a:gd name="textAreaLeft" fmla="*/ 0 w 19080"/>
                  <a:gd name="textAreaRight" fmla="*/ 19440 w 19080"/>
                  <a:gd name="textAreaTop" fmla="*/ 0 h 19080"/>
                  <a:gd name="textAreaBottom" fmla="*/ 19440 h 19080"/>
                </a:gdLst>
                <a:ahLst/>
                <a:cxnLst/>
                <a:rect l="textAreaLeft" t="textAreaTop" r="textAreaRight" b="textAreaBottom"/>
                <a:pathLst>
                  <a:path w="1119" h="1117">
                    <a:moveTo>
                      <a:pt x="559" y="1"/>
                    </a:moveTo>
                    <a:cubicBezTo>
                      <a:pt x="251" y="1"/>
                      <a:pt x="0" y="250"/>
                      <a:pt x="0" y="558"/>
                    </a:cubicBezTo>
                    <a:cubicBezTo>
                      <a:pt x="0" y="866"/>
                      <a:pt x="251" y="1117"/>
                      <a:pt x="559" y="1117"/>
                    </a:cubicBezTo>
                    <a:cubicBezTo>
                      <a:pt x="867" y="1117"/>
                      <a:pt x="1118" y="866"/>
                      <a:pt x="1118" y="558"/>
                    </a:cubicBezTo>
                    <a:cubicBezTo>
                      <a:pt x="1118" y="250"/>
                      <a:pt x="867" y="1"/>
                      <a:pt x="5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82" name="Google Shape;1058;p55"/>
              <p:cNvSpPr/>
              <p:nvPr/>
            </p:nvSpPr>
            <p:spPr>
              <a:xfrm>
                <a:off x="972000" y="3153240"/>
                <a:ext cx="328320" cy="328320"/>
              </a:xfrm>
              <a:custGeom>
                <a:avLst/>
                <a:gdLst>
                  <a:gd name="textAreaLeft" fmla="*/ 0 w 328320"/>
                  <a:gd name="textAreaRight" fmla="*/ 328680 w 328320"/>
                  <a:gd name="textAreaTop" fmla="*/ 0 h 328320"/>
                  <a:gd name="textAreaBottom" fmla="*/ 328680 h 328320"/>
                </a:gdLst>
                <a:ahLst/>
                <a:cxnLst/>
                <a:rect l="textAreaLeft" t="textAreaTop" r="textAreaRight" b="textAreaBottom"/>
                <a:pathLst>
                  <a:path w="19065" h="19065">
                    <a:moveTo>
                      <a:pt x="4506" y="2271"/>
                    </a:moveTo>
                    <a:cubicBezTo>
                      <a:pt x="5429" y="2271"/>
                      <a:pt x="6181" y="3023"/>
                      <a:pt x="6181" y="3947"/>
                    </a:cubicBezTo>
                    <a:cubicBezTo>
                      <a:pt x="6181" y="4872"/>
                      <a:pt x="5429" y="5622"/>
                      <a:pt x="4506" y="5622"/>
                    </a:cubicBezTo>
                    <a:cubicBezTo>
                      <a:pt x="3583" y="5622"/>
                      <a:pt x="2831" y="4872"/>
                      <a:pt x="2831" y="3947"/>
                    </a:cubicBezTo>
                    <a:cubicBezTo>
                      <a:pt x="2831" y="3023"/>
                      <a:pt x="3583" y="2271"/>
                      <a:pt x="4506" y="2271"/>
                    </a:cubicBezTo>
                    <a:close/>
                    <a:moveTo>
                      <a:pt x="5622" y="6740"/>
                    </a:moveTo>
                    <a:cubicBezTo>
                      <a:pt x="5932" y="6740"/>
                      <a:pt x="6181" y="6989"/>
                      <a:pt x="6181" y="7299"/>
                    </a:cubicBezTo>
                    <a:lnTo>
                      <a:pt x="6181" y="16234"/>
                    </a:lnTo>
                    <a:cubicBezTo>
                      <a:pt x="6181" y="16544"/>
                      <a:pt x="5932" y="16793"/>
                      <a:pt x="5622" y="16793"/>
                    </a:cubicBezTo>
                    <a:lnTo>
                      <a:pt x="3388" y="16793"/>
                    </a:lnTo>
                    <a:cubicBezTo>
                      <a:pt x="3080" y="16793"/>
                      <a:pt x="2831" y="16544"/>
                      <a:pt x="2831" y="16234"/>
                    </a:cubicBezTo>
                    <a:lnTo>
                      <a:pt x="2831" y="7299"/>
                    </a:lnTo>
                    <a:cubicBezTo>
                      <a:pt x="2831" y="6989"/>
                      <a:pt x="3080" y="6740"/>
                      <a:pt x="3388" y="6740"/>
                    </a:cubicBezTo>
                    <a:close/>
                    <a:moveTo>
                      <a:pt x="12596" y="6721"/>
                    </a:moveTo>
                    <a:cubicBezTo>
                      <a:pt x="12811" y="6721"/>
                      <a:pt x="13027" y="6739"/>
                      <a:pt x="13241" y="6774"/>
                    </a:cubicBezTo>
                    <a:cubicBezTo>
                      <a:pt x="15058" y="7069"/>
                      <a:pt x="16235" y="8557"/>
                      <a:pt x="16235" y="10223"/>
                    </a:cubicBezTo>
                    <a:lnTo>
                      <a:pt x="16235" y="16234"/>
                    </a:lnTo>
                    <a:cubicBezTo>
                      <a:pt x="16235" y="16544"/>
                      <a:pt x="15985" y="16793"/>
                      <a:pt x="15676" y="16793"/>
                    </a:cubicBezTo>
                    <a:lnTo>
                      <a:pt x="13441" y="16793"/>
                    </a:lnTo>
                    <a:cubicBezTo>
                      <a:pt x="13133" y="16793"/>
                      <a:pt x="12884" y="16544"/>
                      <a:pt x="12884" y="16234"/>
                    </a:cubicBezTo>
                    <a:lnTo>
                      <a:pt x="12884" y="11209"/>
                    </a:lnTo>
                    <a:cubicBezTo>
                      <a:pt x="12884" y="10593"/>
                      <a:pt x="12382" y="10091"/>
                      <a:pt x="11766" y="10091"/>
                    </a:cubicBezTo>
                    <a:cubicBezTo>
                      <a:pt x="11150" y="10091"/>
                      <a:pt x="10650" y="10593"/>
                      <a:pt x="10650" y="11209"/>
                    </a:cubicBezTo>
                    <a:lnTo>
                      <a:pt x="10650" y="16234"/>
                    </a:lnTo>
                    <a:cubicBezTo>
                      <a:pt x="10650" y="16544"/>
                      <a:pt x="10399" y="16793"/>
                      <a:pt x="10091" y="16793"/>
                    </a:cubicBezTo>
                    <a:lnTo>
                      <a:pt x="7857" y="16793"/>
                    </a:lnTo>
                    <a:cubicBezTo>
                      <a:pt x="7547" y="16793"/>
                      <a:pt x="7298" y="16544"/>
                      <a:pt x="7298" y="16234"/>
                    </a:cubicBezTo>
                    <a:lnTo>
                      <a:pt x="7298" y="7299"/>
                    </a:lnTo>
                    <a:cubicBezTo>
                      <a:pt x="7298" y="6989"/>
                      <a:pt x="7547" y="6740"/>
                      <a:pt x="7857" y="6740"/>
                    </a:cubicBezTo>
                    <a:lnTo>
                      <a:pt x="10091" y="6740"/>
                    </a:lnTo>
                    <a:cubicBezTo>
                      <a:pt x="10377" y="6740"/>
                      <a:pt x="10613" y="6956"/>
                      <a:pt x="10644" y="7234"/>
                    </a:cubicBezTo>
                    <a:cubicBezTo>
                      <a:pt x="11219" y="6901"/>
                      <a:pt x="11901" y="6721"/>
                      <a:pt x="12596" y="6721"/>
                    </a:cubicBezTo>
                    <a:close/>
                    <a:moveTo>
                      <a:pt x="2831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31" y="19065"/>
                    </a:cubicBezTo>
                    <a:lnTo>
                      <a:pt x="16235" y="19065"/>
                    </a:lnTo>
                    <a:cubicBezTo>
                      <a:pt x="17774" y="19065"/>
                      <a:pt x="19065" y="17775"/>
                      <a:pt x="19065" y="16234"/>
                    </a:cubicBezTo>
                    <a:lnTo>
                      <a:pt x="19065" y="2831"/>
                    </a:lnTo>
                    <a:cubicBezTo>
                      <a:pt x="19065" y="1290"/>
                      <a:pt x="17774" y="0"/>
                      <a:pt x="16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83" name="Google Shape;1059;p55"/>
              <p:cNvSpPr/>
              <p:nvPr/>
            </p:nvSpPr>
            <p:spPr>
              <a:xfrm>
                <a:off x="1117080" y="3288240"/>
                <a:ext cx="115200" cy="134640"/>
              </a:xfrm>
              <a:custGeom>
                <a:avLst/>
                <a:gdLst>
                  <a:gd name="textAreaLeft" fmla="*/ 0 w 115200"/>
                  <a:gd name="textAreaRight" fmla="*/ 115560 w 115200"/>
                  <a:gd name="textAreaTop" fmla="*/ 0 h 134640"/>
                  <a:gd name="textAreaBottom" fmla="*/ 135000 h 134640"/>
                </a:gdLst>
                <a:ahLst/>
                <a:cxnLst/>
                <a:rect l="textAreaLeft" t="textAreaTop" r="textAreaRight" b="textAreaBottom"/>
                <a:pathLst>
                  <a:path w="6704" h="7837">
                    <a:moveTo>
                      <a:pt x="4182" y="0"/>
                    </a:moveTo>
                    <a:cubicBezTo>
                      <a:pt x="3474" y="0"/>
                      <a:pt x="2782" y="261"/>
                      <a:pt x="2332" y="711"/>
                    </a:cubicBezTo>
                    <a:cubicBezTo>
                      <a:pt x="2108" y="935"/>
                      <a:pt x="1938" y="1142"/>
                      <a:pt x="1686" y="1142"/>
                    </a:cubicBezTo>
                    <a:cubicBezTo>
                      <a:pt x="1618" y="1142"/>
                      <a:pt x="1544" y="1127"/>
                      <a:pt x="1462" y="1093"/>
                    </a:cubicBezTo>
                    <a:cubicBezTo>
                      <a:pt x="1253" y="1006"/>
                      <a:pt x="1117" y="803"/>
                      <a:pt x="1117" y="576"/>
                    </a:cubicBezTo>
                    <a:lnTo>
                      <a:pt x="1117" y="17"/>
                    </a:lnTo>
                    <a:lnTo>
                      <a:pt x="1" y="17"/>
                    </a:lnTo>
                    <a:lnTo>
                      <a:pt x="1" y="7836"/>
                    </a:lnTo>
                    <a:lnTo>
                      <a:pt x="1117" y="7836"/>
                    </a:lnTo>
                    <a:lnTo>
                      <a:pt x="1117" y="3370"/>
                    </a:lnTo>
                    <a:cubicBezTo>
                      <a:pt x="1117" y="2137"/>
                      <a:pt x="2120" y="1135"/>
                      <a:pt x="3351" y="1135"/>
                    </a:cubicBezTo>
                    <a:cubicBezTo>
                      <a:pt x="4584" y="1135"/>
                      <a:pt x="5585" y="2137"/>
                      <a:pt x="5585" y="3370"/>
                    </a:cubicBezTo>
                    <a:lnTo>
                      <a:pt x="5585" y="7836"/>
                    </a:lnTo>
                    <a:lnTo>
                      <a:pt x="6703" y="7836"/>
                    </a:lnTo>
                    <a:lnTo>
                      <a:pt x="6703" y="2384"/>
                    </a:lnTo>
                    <a:cubicBezTo>
                      <a:pt x="6703" y="1266"/>
                      <a:pt x="5932" y="245"/>
                      <a:pt x="4648" y="38"/>
                    </a:cubicBezTo>
                    <a:cubicBezTo>
                      <a:pt x="4493" y="13"/>
                      <a:pt x="4337" y="0"/>
                      <a:pt x="4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7320" bIns="67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84" name="Google Shape;1060;p55"/>
              <p:cNvSpPr/>
              <p:nvPr/>
            </p:nvSpPr>
            <p:spPr>
              <a:xfrm>
                <a:off x="1040040" y="3288600"/>
                <a:ext cx="19080" cy="134640"/>
              </a:xfrm>
              <a:custGeom>
                <a:avLst/>
                <a:gdLst>
                  <a:gd name="textAreaLeft" fmla="*/ 0 w 19080"/>
                  <a:gd name="textAreaRight" fmla="*/ 19440 w 19080"/>
                  <a:gd name="textAreaTop" fmla="*/ 0 h 134640"/>
                  <a:gd name="textAreaBottom" fmla="*/ 135000 h 134640"/>
                </a:gdLst>
                <a:ahLst/>
                <a:cxnLst/>
                <a:rect l="textAreaLeft" t="textAreaTop" r="textAreaRight" b="textAreaBottom"/>
                <a:pathLst>
                  <a:path w="1119" h="7820">
                    <a:moveTo>
                      <a:pt x="0" y="0"/>
                    </a:moveTo>
                    <a:lnTo>
                      <a:pt x="0" y="7819"/>
                    </a:lnTo>
                    <a:lnTo>
                      <a:pt x="1118" y="7819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7320" bIns="67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485" name="Google Shape;1061;p55"/>
          <p:cNvGrpSpPr/>
          <p:nvPr/>
        </p:nvGrpSpPr>
        <p:grpSpPr>
          <a:xfrm>
            <a:off x="1621080" y="3060720"/>
            <a:ext cx="709920" cy="513720"/>
            <a:chOff x="1621080" y="3060720"/>
            <a:chExt cx="709920" cy="513720"/>
          </a:xfrm>
        </p:grpSpPr>
        <p:sp>
          <p:nvSpPr>
            <p:cNvPr id="486" name="Google Shape;1062;p55"/>
            <p:cNvSpPr/>
            <p:nvPr/>
          </p:nvSpPr>
          <p:spPr>
            <a:xfrm>
              <a:off x="1621080" y="3060720"/>
              <a:ext cx="709920" cy="51372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487" name="Google Shape;1063;p55"/>
            <p:cNvGrpSpPr/>
            <p:nvPr/>
          </p:nvGrpSpPr>
          <p:grpSpPr>
            <a:xfrm>
              <a:off x="1811880" y="3153240"/>
              <a:ext cx="328320" cy="328320"/>
              <a:chOff x="1811880" y="3153240"/>
              <a:chExt cx="328320" cy="328320"/>
            </a:xfrm>
          </p:grpSpPr>
          <p:sp>
            <p:nvSpPr>
              <p:cNvPr id="488" name="Google Shape;1064;p55"/>
              <p:cNvSpPr/>
              <p:nvPr/>
            </p:nvSpPr>
            <p:spPr>
              <a:xfrm>
                <a:off x="1870200" y="3211560"/>
                <a:ext cx="211680" cy="211680"/>
              </a:xfrm>
              <a:custGeom>
                <a:avLst/>
                <a:gdLst>
                  <a:gd name="textAreaLeft" fmla="*/ 0 w 211680"/>
                  <a:gd name="textAreaRight" fmla="*/ 212040 w 211680"/>
                  <a:gd name="textAreaTop" fmla="*/ 0 h 211680"/>
                  <a:gd name="textAreaBottom" fmla="*/ 212040 h 211680"/>
                </a:gdLst>
                <a:ahLst/>
                <a:cxnLst/>
                <a:rect l="textAreaLeft" t="textAreaTop" r="textAreaRight" b="textAreaBottom"/>
                <a:pathLst>
                  <a:path w="12288" h="12287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89" name="Google Shape;1065;p55"/>
              <p:cNvSpPr/>
              <p:nvPr/>
            </p:nvSpPr>
            <p:spPr>
              <a:xfrm>
                <a:off x="1927800" y="3269520"/>
                <a:ext cx="96120" cy="96120"/>
              </a:xfrm>
              <a:custGeom>
                <a:avLst/>
                <a:gdLst>
                  <a:gd name="textAreaLeft" fmla="*/ 0 w 96120"/>
                  <a:gd name="textAreaRight" fmla="*/ 96480 w 96120"/>
                  <a:gd name="textAreaTop" fmla="*/ 0 h 96120"/>
                  <a:gd name="textAreaBottom" fmla="*/ 96480 h 96120"/>
                </a:gdLst>
                <a:ahLst/>
                <a:cxnLst/>
                <a:rect l="textAreaLeft" t="textAreaTop" r="textAreaRight" b="textAreaBottom"/>
                <a:pathLst>
                  <a:path w="5588" h="5585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8240" bIns="48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90" name="Google Shape;1066;p55"/>
              <p:cNvSpPr/>
              <p:nvPr/>
            </p:nvSpPr>
            <p:spPr>
              <a:xfrm>
                <a:off x="1811880" y="3153240"/>
                <a:ext cx="328320" cy="328320"/>
              </a:xfrm>
              <a:custGeom>
                <a:avLst/>
                <a:gdLst>
                  <a:gd name="textAreaLeft" fmla="*/ 0 w 328320"/>
                  <a:gd name="textAreaRight" fmla="*/ 328680 w 328320"/>
                  <a:gd name="textAreaTop" fmla="*/ 0 h 328320"/>
                  <a:gd name="textAreaBottom" fmla="*/ 328680 h 328320"/>
                </a:gdLst>
                <a:ahLst/>
                <a:cxnLst/>
                <a:rect l="textAreaLeft" t="textAreaTop" r="textAreaRight" b="textAreaBottom"/>
                <a:pathLst>
                  <a:path w="19064" h="19065">
                    <a:moveTo>
                      <a:pt x="14000" y="2271"/>
                    </a:moveTo>
                    <a:cubicBezTo>
                      <a:pt x="15539" y="2271"/>
                      <a:pt x="16794" y="3524"/>
                      <a:pt x="16794" y="5065"/>
                    </a:cubicBezTo>
                    <a:lnTo>
                      <a:pt x="16794" y="14000"/>
                    </a:lnTo>
                    <a:cubicBezTo>
                      <a:pt x="16794" y="15541"/>
                      <a:pt x="15539" y="16793"/>
                      <a:pt x="14000" y="16793"/>
                    </a:cubicBezTo>
                    <a:lnTo>
                      <a:pt x="5063" y="16793"/>
                    </a:lnTo>
                    <a:cubicBezTo>
                      <a:pt x="3524" y="16793"/>
                      <a:pt x="2272" y="15541"/>
                      <a:pt x="2272" y="14000"/>
                    </a:cubicBezTo>
                    <a:lnTo>
                      <a:pt x="2272" y="5065"/>
                    </a:lnTo>
                    <a:cubicBezTo>
                      <a:pt x="2272" y="3524"/>
                      <a:pt x="3524" y="2271"/>
                      <a:pt x="5063" y="2271"/>
                    </a:cubicBezTo>
                    <a:close/>
                    <a:moveTo>
                      <a:pt x="2829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29" y="19065"/>
                    </a:cubicBezTo>
                    <a:lnTo>
                      <a:pt x="16235" y="19065"/>
                    </a:lnTo>
                    <a:cubicBezTo>
                      <a:pt x="17774" y="19065"/>
                      <a:pt x="19063" y="17775"/>
                      <a:pt x="19063" y="16234"/>
                    </a:cubicBezTo>
                    <a:lnTo>
                      <a:pt x="19063" y="2831"/>
                    </a:lnTo>
                    <a:cubicBezTo>
                      <a:pt x="19063" y="1290"/>
                      <a:pt x="17774" y="0"/>
                      <a:pt x="16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491" name="Google Shape;1067;p55"/>
          <p:cNvGrpSpPr/>
          <p:nvPr/>
        </p:nvGrpSpPr>
        <p:grpSpPr>
          <a:xfrm>
            <a:off x="3300480" y="3060720"/>
            <a:ext cx="709920" cy="513720"/>
            <a:chOff x="3300480" y="3060720"/>
            <a:chExt cx="709920" cy="513720"/>
          </a:xfrm>
        </p:grpSpPr>
        <p:sp>
          <p:nvSpPr>
            <p:cNvPr id="492" name="Google Shape;1068;p55"/>
            <p:cNvSpPr/>
            <p:nvPr/>
          </p:nvSpPr>
          <p:spPr>
            <a:xfrm>
              <a:off x="3300480" y="3060720"/>
              <a:ext cx="709920" cy="51372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3" name="Google Shape;1069;p55"/>
            <p:cNvSpPr/>
            <p:nvPr/>
          </p:nvSpPr>
          <p:spPr>
            <a:xfrm>
              <a:off x="3490920" y="3183120"/>
              <a:ext cx="329400" cy="268560"/>
            </a:xfrm>
            <a:custGeom>
              <a:avLst/>
              <a:gdLst>
                <a:gd name="textAreaLeft" fmla="*/ 0 w 329400"/>
                <a:gd name="textAreaRight" fmla="*/ 329760 w 329400"/>
                <a:gd name="textAreaTop" fmla="*/ 0 h 268560"/>
                <a:gd name="textAreaBottom" fmla="*/ 268920 h 268560"/>
              </a:gdLst>
              <a:ahLst/>
              <a:cxnLst/>
              <a:rect l="textAreaLeft" t="textAreaTop" r="textAreaRight" b="textAreaBottom"/>
              <a:pathLst>
                <a:path w="19122" h="15596">
                  <a:moveTo>
                    <a:pt x="12981" y="0"/>
                  </a:moveTo>
                  <a:cubicBezTo>
                    <a:pt x="12091" y="0"/>
                    <a:pt x="10821" y="352"/>
                    <a:pt x="9915" y="1352"/>
                  </a:cubicBezTo>
                  <a:cubicBezTo>
                    <a:pt x="9203" y="2141"/>
                    <a:pt x="8847" y="3174"/>
                    <a:pt x="8856" y="4430"/>
                  </a:cubicBezTo>
                  <a:cubicBezTo>
                    <a:pt x="6243" y="4110"/>
                    <a:pt x="4101" y="2933"/>
                    <a:pt x="2323" y="846"/>
                  </a:cubicBezTo>
                  <a:cubicBezTo>
                    <a:pt x="2216" y="723"/>
                    <a:pt x="2064" y="650"/>
                    <a:pt x="1902" y="650"/>
                  </a:cubicBezTo>
                  <a:cubicBezTo>
                    <a:pt x="1875" y="650"/>
                    <a:pt x="1848" y="652"/>
                    <a:pt x="1820" y="656"/>
                  </a:cubicBezTo>
                  <a:cubicBezTo>
                    <a:pt x="1631" y="683"/>
                    <a:pt x="1468" y="805"/>
                    <a:pt x="1391" y="977"/>
                  </a:cubicBezTo>
                  <a:cubicBezTo>
                    <a:pt x="695" y="2512"/>
                    <a:pt x="701" y="3895"/>
                    <a:pt x="1403" y="5113"/>
                  </a:cubicBezTo>
                  <a:cubicBezTo>
                    <a:pt x="1389" y="5111"/>
                    <a:pt x="1374" y="5111"/>
                    <a:pt x="1360" y="5111"/>
                  </a:cubicBezTo>
                  <a:cubicBezTo>
                    <a:pt x="1076" y="5111"/>
                    <a:pt x="803" y="5375"/>
                    <a:pt x="824" y="5707"/>
                  </a:cubicBezTo>
                  <a:cubicBezTo>
                    <a:pt x="916" y="7101"/>
                    <a:pt x="1428" y="8182"/>
                    <a:pt x="2351" y="8934"/>
                  </a:cubicBezTo>
                  <a:cubicBezTo>
                    <a:pt x="2176" y="9073"/>
                    <a:pt x="2102" y="9307"/>
                    <a:pt x="2164" y="9524"/>
                  </a:cubicBezTo>
                  <a:cubicBezTo>
                    <a:pt x="2456" y="10535"/>
                    <a:pt x="3310" y="11633"/>
                    <a:pt x="4615" y="12155"/>
                  </a:cubicBezTo>
                  <a:cubicBezTo>
                    <a:pt x="3657" y="12655"/>
                    <a:pt x="2516" y="12903"/>
                    <a:pt x="1345" y="12903"/>
                  </a:cubicBezTo>
                  <a:cubicBezTo>
                    <a:pt x="1111" y="12903"/>
                    <a:pt x="876" y="12893"/>
                    <a:pt x="641" y="12873"/>
                  </a:cubicBezTo>
                  <a:cubicBezTo>
                    <a:pt x="628" y="12872"/>
                    <a:pt x="615" y="12872"/>
                    <a:pt x="603" y="12872"/>
                  </a:cubicBezTo>
                  <a:cubicBezTo>
                    <a:pt x="362" y="12872"/>
                    <a:pt x="155" y="13031"/>
                    <a:pt x="78" y="13266"/>
                  </a:cubicBezTo>
                  <a:cubicBezTo>
                    <a:pt x="0" y="13512"/>
                    <a:pt x="113" y="13788"/>
                    <a:pt x="334" y="13922"/>
                  </a:cubicBezTo>
                  <a:cubicBezTo>
                    <a:pt x="1162" y="14423"/>
                    <a:pt x="3243" y="15596"/>
                    <a:pt x="6294" y="15596"/>
                  </a:cubicBezTo>
                  <a:cubicBezTo>
                    <a:pt x="14568" y="15596"/>
                    <a:pt x="17244" y="8279"/>
                    <a:pt x="17244" y="4736"/>
                  </a:cubicBezTo>
                  <a:cubicBezTo>
                    <a:pt x="17241" y="4515"/>
                    <a:pt x="17243" y="4541"/>
                    <a:pt x="17230" y="4426"/>
                  </a:cubicBezTo>
                  <a:cubicBezTo>
                    <a:pt x="17250" y="4403"/>
                    <a:pt x="17326" y="4347"/>
                    <a:pt x="17386" y="4301"/>
                  </a:cubicBezTo>
                  <a:cubicBezTo>
                    <a:pt x="17696" y="4067"/>
                    <a:pt x="18237" y="3680"/>
                    <a:pt x="18983" y="2590"/>
                  </a:cubicBezTo>
                  <a:cubicBezTo>
                    <a:pt x="19121" y="2386"/>
                    <a:pt x="19111" y="2118"/>
                    <a:pt x="18957" y="1925"/>
                  </a:cubicBezTo>
                  <a:cubicBezTo>
                    <a:pt x="18840" y="1779"/>
                    <a:pt x="18708" y="1722"/>
                    <a:pt x="18558" y="1722"/>
                  </a:cubicBezTo>
                  <a:cubicBezTo>
                    <a:pt x="18451" y="1722"/>
                    <a:pt x="18336" y="1751"/>
                    <a:pt x="18212" y="1799"/>
                  </a:cubicBezTo>
                  <a:cubicBezTo>
                    <a:pt x="18352" y="1553"/>
                    <a:pt x="18467" y="1291"/>
                    <a:pt x="18559" y="1014"/>
                  </a:cubicBezTo>
                  <a:cubicBezTo>
                    <a:pt x="18631" y="800"/>
                    <a:pt x="18553" y="614"/>
                    <a:pt x="18382" y="465"/>
                  </a:cubicBezTo>
                  <a:cubicBezTo>
                    <a:pt x="18282" y="379"/>
                    <a:pt x="18151" y="335"/>
                    <a:pt x="18020" y="335"/>
                  </a:cubicBezTo>
                  <a:cubicBezTo>
                    <a:pt x="17928" y="335"/>
                    <a:pt x="17837" y="356"/>
                    <a:pt x="17754" y="398"/>
                  </a:cubicBezTo>
                  <a:cubicBezTo>
                    <a:pt x="16848" y="856"/>
                    <a:pt x="16172" y="1054"/>
                    <a:pt x="15873" y="1113"/>
                  </a:cubicBezTo>
                  <a:cubicBezTo>
                    <a:pt x="15090" y="395"/>
                    <a:pt x="14251" y="0"/>
                    <a:pt x="1298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494" name="Google Shape;1070;p55"/>
          <p:cNvGrpSpPr/>
          <p:nvPr/>
        </p:nvGrpSpPr>
        <p:grpSpPr>
          <a:xfrm>
            <a:off x="5405400" y="1044360"/>
            <a:ext cx="3282840" cy="3290760"/>
            <a:chOff x="5405400" y="1044360"/>
            <a:chExt cx="3282840" cy="3290760"/>
          </a:xfrm>
        </p:grpSpPr>
        <p:sp>
          <p:nvSpPr>
            <p:cNvPr id="495" name="Google Shape;1071;p55"/>
            <p:cNvSpPr/>
            <p:nvPr/>
          </p:nvSpPr>
          <p:spPr>
            <a:xfrm rot="18900000">
              <a:off x="7797600" y="137952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6" name="Google Shape;1072;p55"/>
            <p:cNvSpPr/>
            <p:nvPr/>
          </p:nvSpPr>
          <p:spPr>
            <a:xfrm rot="18900000">
              <a:off x="5299920" y="388512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" name="Google Shape;539;p35">
            <a:extLst>
              <a:ext uri="{FF2B5EF4-FFF2-40B4-BE49-F238E27FC236}">
                <a16:creationId xmlns:a16="http://schemas.microsoft.com/office/drawing/2014/main" id="{7B06A2F9-841E-DDA4-C61F-597434D76894}"/>
              </a:ext>
            </a:extLst>
          </p:cNvPr>
          <p:cNvSpPr/>
          <p:nvPr/>
        </p:nvSpPr>
        <p:spPr>
          <a:xfrm>
            <a:off x="5103180" y="1030717"/>
            <a:ext cx="3033000" cy="303300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38100">
            <a:solidFill>
              <a:srgbClr val="F8F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 noProof="0" dirty="0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Administration School Center by Slidesgo">
  <a:themeElements>
    <a:clrScheme name="Simple Light">
      <a:dk1>
        <a:srgbClr val="092241"/>
      </a:dk1>
      <a:lt1>
        <a:srgbClr val="F8F8F8"/>
      </a:lt1>
      <a:dk2>
        <a:srgbClr val="B7B7B7"/>
      </a:dk2>
      <a:lt2>
        <a:srgbClr val="6194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241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usiness Administration School Center by Slidesgo">
  <a:themeElements>
    <a:clrScheme name="Simple Light">
      <a:dk1>
        <a:srgbClr val="092241"/>
      </a:dk1>
      <a:lt1>
        <a:srgbClr val="F8F8F8"/>
      </a:lt1>
      <a:dk2>
        <a:srgbClr val="B7B7B7"/>
      </a:dk2>
      <a:lt2>
        <a:srgbClr val="6194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241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usiness Administration School Center by Slidesgo">
  <a:themeElements>
    <a:clrScheme name="Simple Light">
      <a:dk1>
        <a:srgbClr val="092241"/>
      </a:dk1>
      <a:lt1>
        <a:srgbClr val="F8F8F8"/>
      </a:lt1>
      <a:dk2>
        <a:srgbClr val="B7B7B7"/>
      </a:dk2>
      <a:lt2>
        <a:srgbClr val="6194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241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Business Administration School Center by Slidesgo">
  <a:themeElements>
    <a:clrScheme name="Simple Light">
      <a:dk1>
        <a:srgbClr val="092241"/>
      </a:dk1>
      <a:lt1>
        <a:srgbClr val="F8F8F8"/>
      </a:lt1>
      <a:dk2>
        <a:srgbClr val="B7B7B7"/>
      </a:dk2>
      <a:lt2>
        <a:srgbClr val="6194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241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974</TotalTime>
  <Words>621</Words>
  <Application>Microsoft Office PowerPoint</Application>
  <PresentationFormat>On-screen Show (16:9)</PresentationFormat>
  <Paragraphs>75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Archivo Black</vt:lpstr>
      <vt:lpstr>Arial</vt:lpstr>
      <vt:lpstr>Manrope</vt:lpstr>
      <vt:lpstr>Noto Sans Symbols</vt:lpstr>
      <vt:lpstr>OpenSymbol</vt:lpstr>
      <vt:lpstr>Poppins</vt:lpstr>
      <vt:lpstr>Symbol</vt:lpstr>
      <vt:lpstr>Times New Roman</vt:lpstr>
      <vt:lpstr>Wingdings</vt:lpstr>
      <vt:lpstr>Business Administration School Center by Slidesgo</vt:lpstr>
      <vt:lpstr>Business Administration School Center by Slidesgo</vt:lpstr>
      <vt:lpstr>Business Administration School Center by Slidesgo</vt:lpstr>
      <vt:lpstr>Business Administration School Center by Slidesgo</vt:lpstr>
      <vt:lpstr>South Westphalia University of Applied Sciences Data Science Project Seminar Driving Corporate Performance Summer Semester 2025</vt:lpstr>
      <vt:lpstr>PowerPoint Presentation</vt:lpstr>
      <vt:lpstr>Cloudera: Enterprise Data Management</vt:lpstr>
      <vt:lpstr>Cloudera's Data Management Features</vt:lpstr>
      <vt:lpstr>PowerPoint Presentation</vt:lpstr>
      <vt:lpstr>IBM Cloud: AI-Driven Data Management</vt:lpstr>
      <vt:lpstr>IBM Cloud – Key Features for Data Management</vt:lpstr>
      <vt:lpstr>Thank you!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Abdullah Al Noman</cp:lastModifiedBy>
  <cp:revision>11</cp:revision>
  <dcterms:modified xsi:type="dcterms:W3CDTF">2025-04-08T22:20:20Z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2025-03-30T22:40:11Z</dcterms:created>
  <dc:creator>Unknown Creator</dc:creator>
  <dc:description/>
  <dc:language>en-US</dc:language>
  <cp:lastModifiedBy>Unknown Creator</cp:lastModifiedBy>
  <dcterms:modified xsi:type="dcterms:W3CDTF">2025-03-30T22:40:11Z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